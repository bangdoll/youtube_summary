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Summary/Notes in Traditional Chinese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Summary/Notes in Traditional Chinese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Summary/Notes in Traditional Chinese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Summary/Notes in Traditional Chinese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2.png"/><Relationship Id="rId4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1592" y="610362"/>
            <a:ext cx="4827911" cy="558241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18826" y="6371082"/>
            <a:ext cx="1060677" cy="4800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5885" y="898398"/>
            <a:ext cx="1877521" cy="8092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000000"/>
                </a:solidFill>
              </a:defRPr>
            </a:pPr>
            <a:r>
              <a:t>haom note</a:t>
            </a:r>
            <a:br/>
            <a:r>
              <a:t>Imathian/adscendra.</a:t>
            </a:r>
            <a:br/>
            <a:r>
              <a:t>tham laotion</a:t>
            </a:r>
            <a:br/>
            <a:r>
              <a:t>Harin</a:t>
            </a:r>
            <a:br/>
            <a:r>
              <a:t>wiwong bansabdors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21073" y="761238"/>
            <a:ext cx="682734" cy="2674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000000"/>
                </a:solidFill>
              </a:defRPr>
            </a:pPr>
            <a:r>
              <a:t>foruwite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28051" y="761238"/>
            <a:ext cx="1743412" cy="1303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000000"/>
                </a:solidFill>
              </a:defRPr>
            </a:pPr>
            <a:r>
              <a:t>(rozsentioneiro an) {</a:t>
            </a:r>
            <a:br/>
            <a:r>
              <a:t>eatert {</a:t>
            </a:r>
            <a:br/>
            <a:r>
              <a:t>ver aata = [</a:t>
            </a:r>
            <a:br/>
            <a:r>
              <a:t>console.vxfredsspter];</a:t>
            </a:r>
            <a:br/>
            <a:r>
              <a:t>}.</a:t>
            </a:r>
            <a:br/>
            <a:r>
              <a:t>vareed = {</a:t>
            </a:r>
            <a:br/>
            <a:r>
              <a:t>valuevione (sotsi;</a:t>
            </a:r>
            <a:br/>
            <a:r>
              <a:t>cossole.solsed (Shemer);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5885" y="1851660"/>
            <a:ext cx="548626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000000"/>
                </a:solidFill>
              </a:defRPr>
            </a:pPr>
            <a:r>
              <a:t>tiome</a:t>
            </a:r>
            <a:br/>
            <a:r>
              <a:t>Veids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84779" y="1481328"/>
            <a:ext cx="609584" cy="2674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000000"/>
                </a:solidFill>
              </a:defRPr>
            </a:pPr>
            <a:r>
              <a:t>Concep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5885" y="2311146"/>
            <a:ext cx="174341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000000"/>
                </a:solidFill>
              </a:defRPr>
            </a:pPr>
            <a:r>
              <a:t>object ({</a:t>
            </a:r>
            <a:br/>
            <a:r>
              <a:t>const return =</a:t>
            </a:r>
            <a:br/>
            <a:r>
              <a:t>cenct dar algorithan ()</a:t>
            </a:r>
            <a:br/>
            <a:r>
              <a:t>if (on &gt; 1)</a:t>
            </a:r>
            <a:br/>
            <a:r>
              <a:t>return coin</a:t>
            </a:r>
            <a:br/>
            <a:r>
              <a:t>}}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5885" y="3147822"/>
            <a:ext cx="731501" cy="2674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000000"/>
                </a:solidFill>
              </a:defRPr>
            </a:pPr>
            <a:r>
              <a:t>Concept.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47923" y="3072384"/>
            <a:ext cx="752227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>
                <a:solidFill>
                  <a:srgbClr val="000000"/>
                </a:solidFill>
              </a:defRPr>
            </a:pPr>
            <a:r>
              <a:t>《從教練到架構師:2025年的覺醒與2026年的藍圖》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47923" y="3888485"/>
            <a:ext cx="75222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000000"/>
                </a:solidFill>
              </a:defRPr>
            </a:pPr>
            <a:r>
              <a:t>一份基於年度日誌數據的深度洞察與戰略規劃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5885" y="4409694"/>
            <a:ext cx="1597112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000000"/>
                </a:solidFill>
              </a:defRPr>
            </a:pPr>
            <a:r>
              <a:t>[type = = ...]</a:t>
            </a:r>
            <a:br/>
            <a:r>
              <a:t>variable = name)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5885" y="4841748"/>
            <a:ext cx="1877521" cy="10012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000000"/>
                </a:solidFill>
              </a:defRPr>
            </a:pPr>
            <a:r>
              <a:t>vantianene() {</a:t>
            </a:r>
            <a:br/>
            <a:r>
              <a:t>If (razaend) {</a:t>
            </a:r>
            <a:br/>
            <a:r>
              <a:t>variable neve) {</a:t>
            </a:r>
            <a:br/>
            <a:r>
              <a:t>variable (smnnate(name);</a:t>
            </a:r>
            <a:br/>
            <a:r>
              <a:t>} else {</a:t>
            </a:r>
            <a:br/>
            <a:r>
              <a:t>variable env(++);</a:t>
            </a:r>
            <a:br/>
            <a:r>
              <a:t>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47923" y="5404104"/>
            <a:ext cx="609584" cy="2674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000000"/>
                </a:solidFill>
              </a:defRPr>
            </a:pPr>
            <a:r>
              <a:t>Cough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27068" y="685800"/>
            <a:ext cx="182875" cy="960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TREO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14595" y="685800"/>
            <a:ext cx="182875" cy="960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2000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41164" y="685800"/>
            <a:ext cx="182875" cy="960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1000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67733" y="685800"/>
            <a:ext cx="182875" cy="960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1300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94302" y="685800"/>
            <a:ext cx="182875" cy="960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1510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27068" y="1090422"/>
            <a:ext cx="182875" cy="960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2300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14595" y="1090422"/>
            <a:ext cx="573009" cy="960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LICANE300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27068" y="1981962"/>
            <a:ext cx="109725" cy="960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27068" y="2386584"/>
            <a:ext cx="109725" cy="960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100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14595" y="2386584"/>
            <a:ext cx="109725" cy="960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200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41164" y="2386584"/>
            <a:ext cx="182875" cy="960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2140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67733" y="1700784"/>
            <a:ext cx="182875" cy="960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1.000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594302" y="1700784"/>
            <a:ext cx="182875" cy="960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3.630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67733" y="1981962"/>
            <a:ext cx="816843" cy="260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USONING ROOM</a:t>
            </a:r>
            <a:br/>
            <a:r>
              <a:t>(OLOR 197</a:t>
            </a:r>
            <a:br/>
            <a:r>
              <a:t>0060447)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67733" y="2654046"/>
            <a:ext cx="30479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atorer</a:t>
            </a:r>
            <a:br/>
            <a:r>
              <a:t>(258)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67733" y="3058668"/>
            <a:ext cx="182875" cy="960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2010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67733" y="3463290"/>
            <a:ext cx="109725" cy="960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200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67733" y="3867911"/>
            <a:ext cx="182875" cy="960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7000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27068" y="4546854"/>
            <a:ext cx="573009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DOOR DOON</a:t>
            </a:r>
            <a:br/>
            <a:r>
              <a:t>(09714)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27068" y="4951476"/>
            <a:ext cx="109725" cy="960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200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14595" y="4546854"/>
            <a:ext cx="109725" cy="960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860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41164" y="4546854"/>
            <a:ext cx="109725" cy="960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110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667733" y="4546854"/>
            <a:ext cx="182875" cy="960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1700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14595" y="4951476"/>
            <a:ext cx="353559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Sha</a:t>
            </a:r>
            <a:br/>
            <a:r>
              <a:t>00:30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41164" y="4951476"/>
            <a:ext cx="463284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POCAL</a:t>
            </a:r>
            <a:br/>
            <a:r>
              <a:t>2007.101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667733" y="4951476"/>
            <a:ext cx="694926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LOCHO</a:t>
            </a:r>
            <a:br/>
            <a:r>
              <a:t>1558909004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14595" y="5356098"/>
            <a:ext cx="231642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ENOX</a:t>
            </a:r>
            <a:br/>
            <a:r>
              <a:t>DG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741164" y="5356098"/>
            <a:ext cx="304792" cy="960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(2014)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667733" y="5356098"/>
            <a:ext cx="463284" cy="960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05-16 100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827068" y="6035040"/>
            <a:ext cx="182875" cy="960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3000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814595" y="6035040"/>
            <a:ext cx="182875" cy="960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2900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741164" y="6035040"/>
            <a:ext cx="182875" cy="960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806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667733" y="6035040"/>
            <a:ext cx="182875" cy="960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2100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814595" y="6439662"/>
            <a:ext cx="353559" cy="960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(CATDO)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741164" y="6439662"/>
            <a:ext cx="182875" cy="960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2010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667733" y="6439662"/>
            <a:ext cx="182875" cy="960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3000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27068" y="6439662"/>
            <a:ext cx="182875" cy="960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1000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814595" y="6439662"/>
            <a:ext cx="182875" cy="960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2150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741164" y="6439662"/>
            <a:ext cx="182875" cy="960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2000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667733" y="6439662"/>
            <a:ext cx="256025" cy="960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10100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594302" y="6439662"/>
            <a:ext cx="109725" cy="960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00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594302" y="6439662"/>
            <a:ext cx="256025" cy="960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19100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2581" y="3710178"/>
            <a:ext cx="2389572" cy="1940813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2837" y="3710178"/>
            <a:ext cx="2389572" cy="1940813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3093" y="3710178"/>
            <a:ext cx="2389572" cy="1940813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02544" y="5815583"/>
            <a:ext cx="1962862" cy="4389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584" y="651510"/>
            <a:ext cx="3267374" cy="596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500">
                <a:solidFill>
                  <a:srgbClr val="000000"/>
                </a:solidFill>
              </a:defRPr>
            </a:pPr>
            <a:r>
              <a:t>第一部分:奠基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584" y="1248156"/>
            <a:ext cx="3060115" cy="2674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000000"/>
                </a:solidFill>
              </a:defRPr>
            </a:pPr>
            <a:r>
              <a:t>The Past: Laying the 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584" y="1968245"/>
            <a:ext cx="3267374" cy="596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500">
                <a:solidFill>
                  <a:srgbClr val="000000"/>
                </a:solidFill>
              </a:defRPr>
            </a:pPr>
            <a:r>
              <a:t>第一部分:奠基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584" y="2564892"/>
            <a:ext cx="3060115" cy="2674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000000"/>
                </a:solidFill>
              </a:defRPr>
            </a:pPr>
            <a:r>
              <a:t>The Past: Laying the Foundation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8045" y="651510"/>
            <a:ext cx="3901342" cy="21808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000000"/>
                </a:solidFill>
              </a:defRPr>
            </a:pPr>
            <a:r>
              <a:t>2025年並非一連串孤立的事件,而是三個關鍵</a:t>
            </a:r>
            <a:br/>
            <a:r>
              <a:t>的試煉,它們共同鍛造了從「單點突破」到</a:t>
            </a:r>
            <a:br/>
            <a:r>
              <a:t>「系統建構」的轉變。每一項試煉都建立了一種</a:t>
            </a:r>
            <a:br/>
            <a:r>
              <a:t>不可或缺的核心能力。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82032" y="5815583"/>
            <a:ext cx="196286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>
                <a:solidFill>
                  <a:srgbClr val="000000"/>
                </a:solidFill>
              </a:defRPr>
            </a:pPr>
            <a:r>
              <a:t>壓力測試:在極端變動中</a:t>
            </a:r>
            <a:br/>
            <a:r>
              <a:t>錨定秩序的能力。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42288" y="5815583"/>
            <a:ext cx="196286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>
                <a:solidFill>
                  <a:srgbClr val="000000"/>
                </a:solidFill>
              </a:defRPr>
            </a:pPr>
            <a:r>
              <a:t>身分躍遷:從工具的使用</a:t>
            </a:r>
            <a:br/>
            <a:r>
              <a:t>者轉變為創造者的覺醒。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4601" y="0"/>
            <a:ext cx="4254901" cy="685114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16843" y="576072"/>
            <a:ext cx="88145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>
                <a:solidFill>
                  <a:srgbClr val="000000"/>
                </a:solidFill>
              </a:defRPr>
            </a:pPr>
            <a:r>
              <a:t>基石一:壓力測試- 在家庭變動中錨定秩序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6843" y="1584198"/>
            <a:ext cx="1377661" cy="2674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000000"/>
                </a:solidFill>
              </a:defRPr>
            </a:pPr>
            <a:r>
              <a:t>Core Event: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6843" y="1851660"/>
            <a:ext cx="581543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000000"/>
                </a:solidFill>
              </a:defRPr>
            </a:pPr>
            <a:r>
              <a:t>4月,太太的手術與復原期成為年度最大的壓力測試。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6843" y="2338578"/>
            <a:ext cx="1840945" cy="2674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000000"/>
                </a:solidFill>
              </a:defRPr>
            </a:pPr>
            <a:r>
              <a:t>Key Behaviors: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6843" y="2606040"/>
            <a:ext cx="822939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000000"/>
                </a:solidFill>
              </a:defRPr>
            </a:pPr>
            <a:r>
              <a:t>•焦慮轉化:在手術室外的漫長等待中,並未被焦慮吞噬,反</a:t>
            </a:r>
            <a:br/>
            <a:r>
              <a:t>而利用空檔推進了簡報與問卷平台的製作。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6843" y="3284982"/>
            <a:ext cx="809528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000000"/>
                </a:solidFill>
              </a:defRPr>
            </a:pPr>
            <a:r>
              <a:t>•資訊系統化:將醫療資訊數位化管理(用 ChatGPT 整理醫囑、</a:t>
            </a:r>
            <a:br/>
            <a:r>
              <a:t>語音轉文字記錄病情),成為家庭的「定海神針」。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6843" y="4361688"/>
            <a:ext cx="2255463" cy="2674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000000"/>
                </a:solidFill>
              </a:defRPr>
            </a:pPr>
            <a:r>
              <a:t>Capability Forged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6843" y="4629150"/>
            <a:ext cx="822939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000000"/>
                </a:solidFill>
              </a:defRPr>
            </a:pPr>
            <a:r>
              <a:t>這次經歷鍛造了極高的心理韌性,並驗證了核心行為模式:透過建</a:t>
            </a:r>
            <a:br/>
            <a:r>
              <a:t>立外部秩序(系統/紀錄),來消化內在的失控感(焦慮/壓力)。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91976" y="6425946"/>
            <a:ext cx="792460" cy="1577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>
                <a:solidFill>
                  <a:srgbClr val="000000"/>
                </a:solidFill>
              </a:defRPr>
            </a:pPr>
            <a:r>
              <a:t>NotebookLM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3240" y="685800"/>
            <a:ext cx="5486262" cy="547954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16843" y="1817370"/>
            <a:ext cx="1255744" cy="260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000000"/>
                </a:solidFill>
              </a:defRPr>
            </a:pPr>
            <a:r>
              <a:t>Core Event: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6843" y="2077974"/>
            <a:ext cx="5022978" cy="528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000000"/>
                </a:solidFill>
              </a:defRPr>
            </a:pPr>
            <a:r>
              <a:t>8月,獨立開發並上架 Chrome 擴充功能「Quick Text</a:t>
            </a:r>
            <a:br/>
            <a:r>
              <a:t>Copy」。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6843" y="2804922"/>
            <a:ext cx="1621495" cy="260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000000"/>
                </a:solidFill>
              </a:defRPr>
            </a:pPr>
            <a:r>
              <a:t>Significance: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6843" y="3065526"/>
            <a:ext cx="5144895" cy="528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000000"/>
                </a:solidFill>
              </a:defRPr>
            </a:pPr>
            <a:r>
              <a:t>• 這標誌著身分從「記錄者」與「服務者」正式跨入「開</a:t>
            </a:r>
            <a:br/>
            <a:r>
              <a:t>發者」」行列。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6843" y="3593592"/>
            <a:ext cx="5632563" cy="260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000000"/>
                </a:solidFill>
              </a:defRPr>
            </a:pPr>
            <a:r>
              <a:t>•證明了自己不再只是教工具的人,而是能打造工具的人。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6843" y="3854196"/>
            <a:ext cx="5339962" cy="260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000000"/>
                </a:solidFill>
              </a:defRPr>
            </a:pPr>
            <a:r>
              <a:t>• 呼應了 Naval Ravikant 的哲學:「將自己產品化」。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6843" y="4320540"/>
            <a:ext cx="2548064" cy="260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000000"/>
                </a:solidFill>
              </a:defRPr>
            </a:pPr>
            <a:r>
              <a:t>Extended Achievement: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6843" y="4581144"/>
            <a:ext cx="5717905" cy="528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000000"/>
                </a:solidFill>
              </a:defRPr>
            </a:pPr>
            <a:r>
              <a:t>年底透過 Vibe Coding 成功打造「智流 Smart Flow」網站</a:t>
            </a:r>
            <a:br/>
            <a:r>
              <a:t>與「線上轉盤」工具,進一步鞏固了開發者的身分。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