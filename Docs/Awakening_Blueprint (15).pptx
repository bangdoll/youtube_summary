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758" y="685800"/>
            <a:ext cx="4328051" cy="24003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08" y="3998213"/>
            <a:ext cx="7778301" cy="24345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525" y="6377940"/>
            <a:ext cx="975335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3693" y="891540"/>
            <a:ext cx="1926287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000000"/>
                </a:solidFill>
              </a:defRPr>
            </a:pPr>
            <a:r>
              <a:t>haom note</a:t>
            </a:r>
            <a:br/>
            <a:r>
              <a:t>Imathian/adscendra.</a:t>
            </a:r>
            <a:br/>
            <a:r>
              <a:t>tham laotion</a:t>
            </a:r>
            <a:br/>
            <a:r>
              <a:t>Harin</a:t>
            </a:r>
            <a:br/>
            <a:r>
              <a:t>wiwong bansabdors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0524" y="685800"/>
            <a:ext cx="682734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foruwite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" y="1906524"/>
            <a:ext cx="48766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tiome</a:t>
            </a:r>
            <a:br/>
            <a:r>
              <a:t>Veids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380" y="1515618"/>
            <a:ext cx="4632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Concep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693" y="2366010"/>
            <a:ext cx="1926287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000000"/>
                </a:solidFill>
              </a:defRPr>
            </a:pPr>
            <a:r>
              <a:t>object ({</a:t>
            </a:r>
            <a:br/>
            <a:r>
              <a:t>const return =</a:t>
            </a:r>
            <a:br/>
            <a:r>
              <a:t>cenct dar algorithan ()</a:t>
            </a:r>
            <a:br/>
            <a:r>
              <a:t>if (on &gt; 1)</a:t>
            </a:r>
            <a:br/>
            <a:r>
              <a:t>return coin</a:t>
            </a:r>
            <a:br/>
            <a:r>
              <a:t>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693" y="3216401"/>
            <a:ext cx="6583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Concept.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0927" y="891540"/>
            <a:ext cx="1694645" cy="117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000000"/>
                </a:solidFill>
              </a:defRPr>
            </a:pPr>
            <a:r>
              <a:t>[rozsentioneiro an) {</a:t>
            </a:r>
            <a:br/>
            <a:r>
              <a:t>eatert {</a:t>
            </a:r>
            <a:br/>
            <a:r>
              <a:t>ver aata = [</a:t>
            </a:r>
            <a:br/>
            <a:r>
              <a:t>console.vxfredsspter];</a:t>
            </a:r>
            <a:br/>
            <a:r>
              <a:t>]. {</a:t>
            </a:r>
            <a:br/>
            <a:r>
              <a:t>vareed = {</a:t>
            </a:r>
            <a:br/>
            <a:r>
              <a:t>valuevione (sotsi;</a:t>
            </a:r>
            <a:br/>
            <a:r>
              <a:t>cosssole.solsed (Shemer);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9840" y="2873502"/>
            <a:ext cx="7168716" cy="569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000000"/>
                </a:solidFill>
              </a:defRPr>
            </a:pPr>
            <a:r>
              <a:t>《從教練到架構師:2025年的覺醒與2026年的藍圖》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9840" y="3614166"/>
            <a:ext cx="71687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0000"/>
                </a:solidFill>
              </a:defRPr>
            </a:pPr>
            <a:r>
              <a:t>一份基於年度日誌數據的深度洞察與戰略規劃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693" y="4670298"/>
            <a:ext cx="1572728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000000"/>
                </a:solidFill>
              </a:defRPr>
            </a:pPr>
            <a:r>
              <a:t>[type = = ...]</a:t>
            </a:r>
            <a:br/>
            <a:r>
              <a:t>variable = name)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693" y="4972050"/>
            <a:ext cx="1926287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000000"/>
                </a:solidFill>
              </a:defRPr>
            </a:pPr>
            <a:r>
              <a:t>vantianene() {</a:t>
            </a:r>
            <a:br/>
            <a:r>
              <a:t>If (razaend) {</a:t>
            </a:r>
            <a:br/>
            <a:r>
              <a:t>variable neve) {</a:t>
            </a:r>
            <a:br/>
            <a:r>
              <a:t>variable (smnnate(name);</a:t>
            </a:r>
            <a:br/>
            <a:r>
              <a:t>} else {</a:t>
            </a:r>
            <a:br/>
            <a:r>
              <a:t>variable env(++);</a:t>
            </a:r>
            <a:br/>
            <a: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9840" y="5987034"/>
            <a:ext cx="48766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Cough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8710" y="685800"/>
            <a:ext cx="219450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TREO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4186" y="68580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1854" y="68580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522" y="68580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1510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7190" y="68580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2300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8710" y="1165860"/>
            <a:ext cx="658351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LICANE300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1854" y="1714500"/>
            <a:ext cx="121916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8710" y="1988819"/>
            <a:ext cx="146300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1854" y="1988819"/>
            <a:ext cx="146300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58710" y="212598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2140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8557" y="1625345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3.500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8557" y="1748790"/>
            <a:ext cx="853418" cy="363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USONING ROOM</a:t>
            </a:r>
            <a:br/>
            <a:r>
              <a:t>(OLOR 197</a:t>
            </a:r>
            <a:br/>
            <a:r>
              <a:t>0060447)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8557" y="2537460"/>
            <a:ext cx="34136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atorer</a:t>
            </a:r>
            <a:br/>
            <a:r>
              <a:t>(258)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8557" y="2811779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5847" y="5074920"/>
            <a:ext cx="146300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5847" y="411480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7000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6678" y="4800600"/>
            <a:ext cx="58520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DOOR DOON</a:t>
            </a:r>
            <a:br/>
            <a:r>
              <a:t>(09714)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017" y="411480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860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02684" y="4114800"/>
            <a:ext cx="146300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0352" y="411480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1700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017" y="4800600"/>
            <a:ext cx="36575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Sha</a:t>
            </a:r>
            <a:br/>
            <a:r>
              <a:t>00:30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017" y="5020056"/>
            <a:ext cx="58520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POCAL</a:t>
            </a:r>
            <a:br/>
            <a:r>
              <a:t>2007.101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186" y="4800600"/>
            <a:ext cx="8290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LOCHO</a:t>
            </a:r>
            <a:br/>
            <a:r>
              <a:t>1558909004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3356" y="4800600"/>
            <a:ext cx="24383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ENOX</a:t>
            </a:r>
            <a:br/>
            <a:r>
              <a:t>DG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3356" y="5020056"/>
            <a:ext cx="365750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(CATDO)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3356" y="5239512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2010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508" y="582930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3000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6678" y="582930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2900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5847" y="5829300"/>
            <a:ext cx="146300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806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017" y="582930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508" y="617220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3000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76678" y="617220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5847" y="617220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2150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017" y="6172200"/>
            <a:ext cx="18287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76678" y="6377940"/>
            <a:ext cx="25602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10100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276" y="2811779"/>
            <a:ext cx="256025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19100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8276" y="5486400"/>
            <a:ext cx="146300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23" y="3627882"/>
            <a:ext cx="1962862" cy="133731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205" y="3627882"/>
            <a:ext cx="1962862" cy="13373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0486" y="3627882"/>
            <a:ext cx="1962862" cy="13373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0486" y="5081778"/>
            <a:ext cx="1962862" cy="5760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584" y="651510"/>
            <a:ext cx="314545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500">
                <a:solidFill>
                  <a:srgbClr val="000000"/>
                </a:solidFill>
              </a:defRPr>
            </a:pPr>
            <a:r>
              <a:t>第一部分:奠基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1200150"/>
            <a:ext cx="31454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The Past: Laying the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9004" y="651510"/>
            <a:ext cx="371846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2025年並非一連串孤立的事件,而是三個關鍵</a:t>
            </a:r>
            <a:br/>
            <a:r>
              <a:t>的試煉,它們共同鍛造了從「單點突破」到</a:t>
            </a:r>
            <a:br/>
            <a:r>
              <a:t>「系統建構」的轉變。每一項試煉都建立了一種</a:t>
            </a:r>
            <a:br/>
            <a:r>
              <a:t>不可或缺的核心能力。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2187702"/>
            <a:ext cx="314545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500">
                <a:solidFill>
                  <a:srgbClr val="000000"/>
                </a:solidFill>
              </a:defRPr>
            </a:pPr>
            <a:r>
              <a:t>第一部分:奠基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2736342"/>
            <a:ext cx="31454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The Past: Laying the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7923" y="5081778"/>
            <a:ext cx="1962862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壓力測試:在極端變動中</a:t>
            </a:r>
            <a:br/>
            <a:r>
              <a:t>錨定秩序的能力。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4205" y="5081778"/>
            <a:ext cx="1962862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身分躍遷:從工具的使用</a:t>
            </a:r>
            <a:br/>
            <a:r>
              <a:t>者轉變為創造者的覺醒。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343" y="0"/>
            <a:ext cx="4462160" cy="68511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6843" y="569214"/>
            <a:ext cx="8424461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基石一:壓力測試- 在家庭變動中錨定秩序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43" y="1625345"/>
            <a:ext cx="1377661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Core Event: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43" y="1892808"/>
            <a:ext cx="5791055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4月,太太的手術與復原期成為年度最大的壓力測試。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6843" y="2338578"/>
            <a:ext cx="1779987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Key Behaviors: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43" y="2606040"/>
            <a:ext cx="8095285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•焦慮轉化:在手術室外的漫長等待中,並未被焦慮吞噬,反</a:t>
            </a:r>
            <a:br/>
            <a:r>
              <a:t>而利用空檔推進了簡報與問卷平台的製作。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43" y="3140964"/>
            <a:ext cx="8095285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•資訊系統化:將醫療資訊數位化管理(用 ChatGPT 整理醫囑、</a:t>
            </a:r>
            <a:br/>
            <a:r>
              <a:t>語音轉文字記錄病情),成為家庭的「定海神針」。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43" y="4005072"/>
            <a:ext cx="2121354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Capability Forged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43" y="4272534"/>
            <a:ext cx="8095285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這次經歷鍛造了極高的心理韌性,並驗證了核心行為模式:透過建</a:t>
            </a:r>
            <a:br/>
            <a:r>
              <a:t>立外部秩序(系統/紀錄),來消化內在的失控感(焦慮/壓力)。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89153"/>
            <a:ext cx="6083655" cy="66728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885" y="1824228"/>
            <a:ext cx="1194786" cy="240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Core Event: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885" y="2064257"/>
            <a:ext cx="503517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8月,獨立開發並上架 Chrome 擴充功能「Quick Text</a:t>
            </a:r>
            <a:br/>
            <a:r>
              <a:t>Copy」。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885" y="2804922"/>
            <a:ext cx="1316703" cy="240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Significance: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885" y="3044952"/>
            <a:ext cx="503517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 這標誌著身分從「記錄者」與「服務者」正式跨入「開</a:t>
            </a:r>
            <a:br/>
            <a:r>
              <a:t>發者」」行列。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885" y="3586734"/>
            <a:ext cx="5449687" cy="240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•證明了自己不再只是教工具的人,而是能打造工具的人。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885" y="3888485"/>
            <a:ext cx="5193662" cy="240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 呼應了 Naval Ravikant 的哲學:「將自己產品化」。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885" y="4389120"/>
            <a:ext cx="2462722" cy="240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Extended Achievement: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885" y="4629150"/>
            <a:ext cx="5559413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年底透過 Vibe Coding 成功打造「智流 Smart Flow」網站</a:t>
            </a:r>
            <a:br/>
            <a:r>
              <a:t>與「線上轉盤」工具,進一步鞏固了開發者的身分。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