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Summary/Notes in Traditional Chinese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85" y="822959"/>
            <a:ext cx="1536153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heom mote</a:t>
            </a:r>
            <a:br/>
            <a:r>
              <a:t>-matland abention</a:t>
            </a:r>
            <a:br/>
            <a:r>
              <a:t>-driva boittom</a:t>
            </a:r>
            <a:br/>
            <a:r>
              <a:t>-devin</a:t>
            </a:r>
            <a:br/>
            <a:r>
              <a:t>-iving homabrue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7923" y="774954"/>
            <a:ext cx="658351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frruwite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86684" y="685800"/>
            <a:ext cx="1316703" cy="1193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00000"/>
                </a:solidFill>
              </a:defRPr>
            </a:pPr>
            <a:r>
              <a:t>(bpasentioneind um) {</a:t>
            </a:r>
            <a:br/>
            <a:r>
              <a:t>eutert {</a:t>
            </a:r>
            <a:br/>
            <a:r>
              <a:t>ver aata = {</a:t>
            </a:r>
            <a:br/>
            <a:r>
              <a:t>console.vxfredssoter];</a:t>
            </a:r>
            <a:br/>
            <a:r>
              <a:t>}</a:t>
            </a:r>
            <a:br/>
            <a:r>
              <a:t>vareed = {</a:t>
            </a:r>
            <a:br/>
            <a:r>
              <a:t>vatuevione (sols);</a:t>
            </a:r>
            <a:br/>
            <a:r>
              <a:t>cossole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885" y="1981962"/>
            <a:ext cx="548626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time</a:t>
            </a:r>
            <a:br/>
            <a:r>
              <a:t>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885" y="2393441"/>
            <a:ext cx="1536153" cy="726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object ({</a:t>
            </a:r>
            <a:br/>
            <a:r>
              <a:t>const retum.</a:t>
            </a:r>
            <a:br/>
            <a:r>
              <a:t>cenct dar algorithon ()</a:t>
            </a:r>
            <a:br/>
            <a:r>
              <a:t>if (on ()</a:t>
            </a:r>
            <a:br/>
            <a:r>
              <a:t>return sein</a:t>
            </a:r>
            <a:br/>
            <a:r>
              <a:t>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85" y="3216401"/>
            <a:ext cx="670543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Concept.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255" y="2866644"/>
            <a:ext cx="747350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000000"/>
                </a:solidFill>
              </a:defRPr>
            </a:pPr>
            <a:r>
              <a:t>《從教練到架構師:2025年的覺醒與2026年的藍圖》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9016" y="3490722"/>
            <a:ext cx="5717905" cy="322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t>一份基於年度日誌數據的深度洞察與戰略規劃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885" y="4409694"/>
            <a:ext cx="1158211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[type=...]</a:t>
            </a:r>
            <a:br/>
            <a:r>
              <a:t>variable=name]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885" y="4786883"/>
            <a:ext cx="1536153" cy="87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varitionene() {</a:t>
            </a:r>
            <a:br/>
            <a:r>
              <a:t>If (razaend) {</a:t>
            </a:r>
            <a:br/>
            <a:r>
              <a:t>variable nove) {</a:t>
            </a:r>
            <a:br/>
            <a:r>
              <a:t>variable (snote(name);</a:t>
            </a:r>
            <a:br/>
            <a:r>
              <a:t>} else {</a:t>
            </a:r>
            <a:br/>
            <a:r>
              <a:t>variable env(++);</a:t>
            </a:r>
            <a:br/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8551" y="6425946"/>
            <a:ext cx="792460" cy="157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000000"/>
                </a:solidFill>
              </a:defRPr>
            </a:pPr>
            <a:r>
              <a:t>NotebookLM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9444" y="973836"/>
            <a:ext cx="2755323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The Past: Laying the roundation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4" y="1357884"/>
            <a:ext cx="755885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コリ特发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7917" y="1405889"/>
            <a:ext cx="85341" cy="15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33265" y="1597914"/>
            <a:ext cx="524242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#+L+7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4" y="2366010"/>
            <a:ext cx="207258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kk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53" y="2366010"/>
            <a:ext cx="719310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刀·关空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4" y="2750058"/>
            <a:ext cx="1414236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TTוב ז מסרי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783" y="4224528"/>
            <a:ext cx="402325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人士古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4461" y="4224528"/>
            <a:ext cx="573009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旧时辉ㅠ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6122" y="4224528"/>
            <a:ext cx="609584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、クエンロ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2800" y="4224528"/>
            <a:ext cx="1231361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TELOFギアチャエー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3630" y="2750058"/>
            <a:ext cx="609584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The Donte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53215" y="2750058"/>
            <a:ext cx="524242" cy="1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the Bound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169" y="1885950"/>
            <a:ext cx="2438339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Key Behaviors.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4251960"/>
            <a:ext cx="2438339" cy="2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Capability Forged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6843" y="569214"/>
            <a:ext cx="8570761" cy="912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>
                <a:solidFill>
                  <a:srgbClr val="000000"/>
                </a:solidFill>
              </a:defRPr>
            </a:pPr>
            <a:r>
              <a:t>基石二:身分躍遷一</a:t>
            </a:r>
            <a:br/>
            <a:r>
              <a:t>從教學者到產品開發者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43" y="1639062"/>
            <a:ext cx="1402044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Event: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43" y="1885950"/>
            <a:ext cx="5864205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8月,獨立開發並上架 Chrome擴充功能「Quick Text</a:t>
            </a:r>
            <a:br/>
            <a:r>
              <a:t>Copy」。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843" y="2592324"/>
            <a:ext cx="1621495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Significance: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43" y="2839212"/>
            <a:ext cx="6498173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這標誌著身分從「記錄者」與「服務者」正式跨入「開</a:t>
            </a:r>
            <a:br/>
            <a:r>
              <a:t>發者」」行列。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43" y="3408426"/>
            <a:ext cx="65469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證明了自己不再只是教工具的人,而是能打造工具的人。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43" y="3655314"/>
            <a:ext cx="5937355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 呼應了 Naval Ravikant 的哲學:「將自己產品化」。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43" y="4162806"/>
            <a:ext cx="2560255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Extended Achievement: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843" y="4409694"/>
            <a:ext cx="6717624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年底透過 Vibe Coding 成功打造「智流 Smart Flow」網站</a:t>
            </a:r>
            <a:br/>
            <a:r>
              <a:t>與「線上轉盤」工具,進一步鞏固了開發者的身分。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610362"/>
            <a:ext cx="10960333" cy="425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000000"/>
                </a:solidFill>
              </a:defRPr>
            </a:pPr>
            <a:r>
              <a:t>基石三:商業覺醒- 從單點服務到系統價值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104138"/>
            <a:ext cx="10960333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Trigger:12月,在朋友喜宴上被點出「擁有優質資產與服務,卻缺乏品牌」的痛點。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570482"/>
            <a:ext cx="10960333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Insight: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1817370"/>
            <a:ext cx="10960333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·教學哲學深化:從「救火」(解決當下問題)進化到「防火」(建立預防系統)。意識到自己的價值不在於救</a:t>
            </a:r>
            <a:br/>
            <a:r>
              <a:t>火,而在於建立防火牆。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462022"/>
            <a:ext cx="10960333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•價值主張轉變:從單純教軟體操作,轉向「數位治理」與「基礎設施建設」(如協助學生統一帳號、建立備份</a:t>
            </a:r>
            <a:br/>
            <a:r>
              <a:t>三部曲)。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106674"/>
            <a:ext cx="10960333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•確立核心論述:確立了「基礎設施先於應用」的核心論述。不再只是教人釣魚,而是教人如何設計一座養魚</a:t>
            </a:r>
            <a:br/>
            <a:r>
              <a:t>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28551" y="6384798"/>
            <a:ext cx="743693" cy="13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000000"/>
                </a:solidFill>
              </a:defRPr>
            </a:pPr>
            <a:r>
              <a:t>NotebookLM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85800"/>
            <a:ext cx="1219169" cy="2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7" y="822959"/>
            <a:ext cx="3657508" cy="2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The present The Core 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12414"/>
            <a:ext cx="731501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= _x000D_</a:t>
            </a:r>
            <a:br/>
            <a:r>
              <a:t>「中、时个正術,而足,羊手控風」與「文心戲」。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55314"/>
            <a:ext cx="1219169" cy="2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E妆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41114"/>
            <a:ext cx="7315017" cy="2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仏会嚇對治心,可炒田・フル/ロ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67428"/>
            <a:ext cx="1219169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M-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017" y="4800600"/>
            <a:ext cx="1219169" cy="2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Rang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017" y="5026914"/>
            <a:ext cx="1219169" cy="2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111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53228"/>
            <a:ext cx="7315017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生,把手江風姐心」~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486400"/>
            <a:ext cx="1219169" cy="2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XAIW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017" y="5712714"/>
            <a:ext cx="3657508" cy="2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你话似COD..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55463" y="569214"/>
            <a:ext cx="7668576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000000"/>
                </a:solidFill>
              </a:defRPr>
            </a:pPr>
            <a:r>
              <a:t>你真正的產品:消除恐懼,交付秩序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5463" y="1824228"/>
            <a:ext cx="7668576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t>你的獲利模式正在從「知識落差」轉向「信任託付」。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5469" y="2777490"/>
            <a:ext cx="1109444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t>對學生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5469" y="3216401"/>
            <a:ext cx="2584639" cy="1522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他們的需求不是最新的</a:t>
            </a:r>
            <a:br/>
            <a:r>
              <a:t>iPhone 規格,而是有人牽</a:t>
            </a:r>
            <a:br/>
            <a:r>
              <a:t>著手,安全地從舊時代跨越</a:t>
            </a:r>
            <a:br/>
            <a:r>
              <a:t>到數位新大陸。你賣的是</a:t>
            </a:r>
            <a:br/>
            <a:r>
              <a:t>「安心」。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8595" y="2777490"/>
            <a:ext cx="1109444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t>對家庭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8595" y="3216401"/>
            <a:ext cx="258463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你用系統思維表達關心。用</a:t>
            </a:r>
            <a:br/>
            <a:r>
              <a:t>ChatGPT 建立專屬故事</a:t>
            </a:r>
            <a:br/>
            <a:r>
              <a:t>線、用點數制度建立金錢</a:t>
            </a:r>
            <a:br/>
            <a:r>
              <a:t>觀、用數位工具記錄醫囑。</a:t>
            </a:r>
            <a:br/>
            <a:r>
              <a:t>你用理性的工具,守護感性</a:t>
            </a:r>
            <a:br/>
            <a:r>
              <a:t>的關係,讓愛成為一種「穩</a:t>
            </a:r>
            <a:br/>
            <a:r>
              <a:t>定的系統」。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9528" y="2777490"/>
            <a:ext cx="1109444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t>對企業主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9528" y="3216401"/>
            <a:ext cx="2584639" cy="1522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他們敢把最私密的帳號密</a:t>
            </a:r>
            <a:br/>
            <a:r>
              <a:t>碼、公司檔案結構交給你。</a:t>
            </a:r>
            <a:br/>
            <a:r>
              <a:t>你的核心價值已不是「新</a:t>
            </a:r>
            <a:br/>
            <a:r>
              <a:t>知」,而是「安全感」與</a:t>
            </a:r>
            <a:br/>
            <a:r>
              <a:t>「系統穩定性」。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85" y="603503"/>
            <a:ext cx="5632563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000000"/>
                </a:solidFill>
              </a:defRPr>
            </a:pPr>
            <a:r>
              <a:t>警惕:超能力背後的陷阱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85" y="1076706"/>
            <a:ext cx="3279566" cy="473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000000"/>
                </a:solidFill>
              </a:defRPr>
            </a:pPr>
            <a:r>
              <a:t>—「過度可得性」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885" y="1700784"/>
            <a:ext cx="5632563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Problem Definition: 你是一個極度熱心且負責</a:t>
            </a:r>
            <a:br/>
            <a:r>
              <a:t>的「救火隊長」,但「高級打雜」正在稀釋你的</a:t>
            </a:r>
            <a:br/>
            <a:r>
              <a:t>顧問價值。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885" y="2564892"/>
            <a:ext cx="5632563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Core Conflict: 當你隨時都能被找到去解決一</a:t>
            </a:r>
            <a:br/>
            <a:r>
              <a:t>個滑鼠連線問題時,就很難讓客戶相信你是一</a:t>
            </a:r>
            <a:br/>
            <a:r>
              <a:t>個能規劃企業願景的架構師。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885" y="3429000"/>
            <a:ext cx="5632563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Root Cause: 你的「焦慮轉化機制」讓你習慣</a:t>
            </a:r>
            <a:br/>
            <a:r>
              <a:t>透過「接管控制權」來創造安全感,這讓你難</a:t>
            </a:r>
            <a:br/>
            <a:r>
              <a:t>以拒絕求助。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85" y="4293108"/>
            <a:ext cx="5632563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Personal Impact: 多次透露出身心透支的警訊</a:t>
            </a:r>
            <a:br/>
            <a:r>
              <a:t>(在車上累到睡著)。你的身心能量才是這</a:t>
            </a:r>
            <a:br/>
            <a:r>
              <a:t>一切系統的「伺服器」。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85" y="534924"/>
            <a:ext cx="2999157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>
                <a:solidFill>
                  <a:srgbClr val="000000"/>
                </a:solidFill>
              </a:defRPr>
            </a:pPr>
            <a:r>
              <a:t>第三部分:藍圖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85" y="939546"/>
            <a:ext cx="2999157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The Future: The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237" y="2660904"/>
            <a:ext cx="1206977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2026 使命: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237" y="2996946"/>
            <a:ext cx="3657508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將「蔡教練」從一個職稱,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237" y="3332988"/>
            <a:ext cx="3377099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升級為一個品牌系統。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9847" y="4718303"/>
            <a:ext cx="7619809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課題是如何讓產品自己運轉,而不再依賴你的肉身去推動。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9847" y="5054346"/>
            <a:ext cx="7619809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你已經是架構師了,請相信你設計的系統,然後試著放手,讓系統為你工作。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85" y="5774436"/>
            <a:ext cx="2340805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1. 產品化 (Productize)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7368" y="5774436"/>
            <a:ext cx="2182313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2. 品牌化 (Branding)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8851" y="5774436"/>
            <a:ext cx="2182313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3. 系統化 (Systemize)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85" y="466344"/>
            <a:ext cx="1066773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>
                <a:solidFill>
                  <a:srgbClr val="000000"/>
                </a:solidFill>
              </a:defRPr>
            </a:pPr>
            <a:r>
              <a:t>支柱一:產品化- 拒絕一次性勞務,建立可複用資產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85" y="1371600"/>
            <a:ext cx="5376537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「資產化」原則(Asset First Principle)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885" y="1783080"/>
            <a:ext cx="6229956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•檢核點:做這件事能否留下「可重複使用」的資產?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885" y="2352294"/>
            <a:ext cx="1719029" cy="30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2026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885" y="2743200"/>
            <a:ext cx="6425023" cy="1076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·推出標準化產品包:正式包裝「數位資產整理包」(含</a:t>
            </a:r>
            <a:br/>
            <a:r>
              <a:t>備份三部曲、帳號治理、遺產數位化)與「企業AI導入</a:t>
            </a:r>
            <a:br/>
            <a:r>
              <a:t>起手式」。不再賣小時,而是賣「解決方案」。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85" y="3943350"/>
            <a:ext cx="6790774" cy="1076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・教材資產化:將Heptabase 與 Notion 的教學筆記,轉</a:t>
            </a:r>
            <a:br/>
            <a:r>
              <a:t>化為付費訂閱的知識庫或線上微課程,讓教學在你睡覺</a:t>
            </a:r>
            <a:br/>
            <a:r>
              <a:t>時也能發生。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85" y="480060"/>
            <a:ext cx="10167873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000000"/>
                </a:solidFill>
              </a:defRPr>
            </a:pPr>
            <a:r>
              <a:t>支柱二:品牌化- 建立「單一可信來源」的專業形象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85" y="1769364"/>
            <a:ext cx="6717624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「系統大於工具」原則 (System over Tool Principle)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885" y="2256282"/>
            <a:ext cx="6717624" cy="336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•檢核點:我是在教工具的功能,還是在建立解決問題的系統?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885" y="3147822"/>
            <a:ext cx="1572728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2026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885" y="3525012"/>
            <a:ext cx="6717624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・深化「智流 Smart Flow」:讓網站成為你「觀點」的載</a:t>
            </a:r>
            <a:br/>
            <a:r>
              <a:t>體,加入實測心得與教學案例,作為專業能力的證明。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5885" y="4354830"/>
            <a:ext cx="6717624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・定義「數位治理」專家:將所有對外溝通聚焦在一個定位</a:t>
            </a:r>
            <a:br/>
            <a:r>
              <a:t>上,並使用以下價值主張: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885" y="5184648"/>
            <a:ext cx="6717624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&gt; 「我不只教你用工具,我幫你建立不被工具綁架的</a:t>
            </a:r>
            <a:br/>
            <a:r>
              <a:t>系統。」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6843" y="397764"/>
            <a:ext cx="4108601" cy="322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>
                <a:solidFill>
                  <a:srgbClr val="000000"/>
                </a:solidFill>
              </a:defRPr>
            </a:pPr>
            <a:r>
              <a:t>支柱三:系統化-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43" y="843534"/>
            <a:ext cx="5632563" cy="322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>
                <a:solidFill>
                  <a:srgbClr val="000000"/>
                </a:solidFill>
              </a:defRPr>
            </a:pPr>
            <a:r>
              <a:t>為自己建立護城河,保護核心能量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43" y="1488186"/>
            <a:ext cx="4645035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「護城河」原則(The Moat Principle)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843" y="1789938"/>
            <a:ext cx="5632563" cy="41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•檢核點:這件事是否侵蝕了我的核心能量與</a:t>
            </a:r>
            <a:br/>
            <a:r>
              <a:t>家庭時間?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43" y="3326129"/>
            <a:ext cx="1621495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2026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843" y="3634740"/>
            <a:ext cx="6083655" cy="699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•建立「拒絕與授權」機制:對於低價值的技術</a:t>
            </a:r>
            <a:br/>
            <a:r>
              <a:t>支援(如修滑鼠),建立FAQ或外包,將時</a:t>
            </a:r>
            <a:br/>
            <a:r>
              <a:t>間保留給高價值的顧問諮詢。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43" y="4505706"/>
            <a:ext cx="6083655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</a:defRPr>
            </a:pPr>
            <a:r>
              <a:t>・強制留白:每週固定安排「無輸入、無輸出」</a:t>
            </a:r>
            <a:br/>
            <a:r>
              <a:t>的DMN(預設模式網絡)時間。把「休息」</a:t>
            </a:r>
            <a:br/>
            <a:r>
              <a:t>也納入你的SOP,為自己的能量做「異地備</a:t>
            </a:r>
            <a:br/>
            <a:r>
              <a:t>援」。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3961" y="569214"/>
            <a:ext cx="9131579" cy="54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000000"/>
                </a:solidFill>
              </a:defRPr>
            </a:pPr>
            <a:r>
              <a:t>2026 行動準則:三大決策原則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885" y="3353562"/>
            <a:ext cx="33527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000000"/>
                </a:solidFill>
              </a:defRPr>
            </a:pPr>
            <a:r>
              <a:t>原則一:資產化原則</a:t>
            </a:r>
            <a:br/>
            <a:r>
              <a:t>(Asset First)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885" y="4395978"/>
            <a:ext cx="3352716" cy="54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·提問:這能否留下「可重複</a:t>
            </a:r>
            <a:br/>
            <a:r>
              <a:t>使用」的資產?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885" y="5266944"/>
            <a:ext cx="3352716" cy="54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・目標:拒絕無法累積的一次</a:t>
            </a:r>
            <a:br/>
            <a:r>
              <a:t>性勞務。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035" y="3353562"/>
            <a:ext cx="33527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000000"/>
                </a:solidFill>
              </a:defRPr>
            </a:pPr>
            <a:r>
              <a:t>原則二:系統大於工具原則</a:t>
            </a:r>
            <a:br/>
            <a:r>
              <a:t>(System over Tool)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35" y="4395978"/>
            <a:ext cx="3352716" cy="54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·提問:我是在教功能,還是</a:t>
            </a:r>
            <a:br/>
            <a:r>
              <a:t>在建立解決方案的系統?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35" y="5266944"/>
            <a:ext cx="3352716" cy="54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・目標:優先解決底層架構問</a:t>
            </a:r>
            <a:br/>
            <a:r>
              <a:t>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186" y="3353562"/>
            <a:ext cx="33527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000000"/>
                </a:solidFill>
              </a:defRPr>
            </a:pPr>
            <a:r>
              <a:t>原則三:護城河原則</a:t>
            </a:r>
            <a:br/>
            <a:r>
              <a:t>(The Moat)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186" y="4395978"/>
            <a:ext cx="3352716" cy="54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·提問:這是否侵蝕了我的核</a:t>
            </a:r>
            <a:br/>
            <a:r>
              <a:t>心能量與家庭時間?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186" y="5266944"/>
            <a:ext cx="3352716" cy="54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・目標:保護專注力,這是最</a:t>
            </a:r>
            <a:br/>
            <a:r>
              <a:t>重要的生產資產。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38198" y="2510028"/>
            <a:ext cx="6303106" cy="81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>
                <a:solidFill>
                  <a:srgbClr val="000000"/>
                </a:solidFill>
              </a:defRPr>
            </a:pPr>
            <a:r>
              <a:t>值得你解決』的問題。」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5993892"/>
            <a:ext cx="97411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000000"/>
                </a:solidFill>
              </a:defRPr>
            </a:pPr>
            <a:r>
              <a:t>問題:今年,請專注於解決那些『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