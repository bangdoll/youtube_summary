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752" y="685800"/>
            <a:ext cx="4096409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401" y="6419088"/>
            <a:ext cx="1024102" cy="432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7118" y="788670"/>
            <a:ext cx="1950671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haom note</a:t>
            </a:r>
            <a:br/>
            <a:r>
              <a:t>Imathian/adscendra.</a:t>
            </a:r>
            <a:br/>
            <a:r>
              <a:t>tham laotion</a:t>
            </a:r>
            <a:br/>
            <a:r>
              <a:t>Harin</a:t>
            </a:r>
            <a:br/>
            <a:r>
              <a:t>wiwong bansabdors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7923" y="877824"/>
            <a:ext cx="768076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foruwite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1476" y="966977"/>
            <a:ext cx="1609303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(rozsentioneiro an) {</a:t>
            </a:r>
            <a:br/>
            <a:r>
              <a:t>eatert {</a:t>
            </a:r>
            <a:br/>
            <a:r>
              <a:t>ver aata = [</a:t>
            </a:r>
            <a:br/>
            <a:r>
              <a:t>console.vxfredsspter];</a:t>
            </a:r>
            <a:br/>
            <a:r>
              <a:t>}.</a:t>
            </a:r>
            <a:br/>
            <a:r>
              <a:t>vareed = {</a:t>
            </a:r>
            <a:br/>
            <a:r>
              <a:t>valuevione (sotsi;</a:t>
            </a:r>
            <a:br/>
            <a:r>
              <a:t>cossole.solsed (Shemer);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7118" y="1920240"/>
            <a:ext cx="524242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tiome</a:t>
            </a:r>
            <a:br/>
            <a:r>
              <a:t>Veids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1763" y="1604772"/>
            <a:ext cx="463284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Concep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118" y="2393441"/>
            <a:ext cx="1499578" cy="699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object ({</a:t>
            </a:r>
            <a:br/>
            <a:r>
              <a:t>const return =</a:t>
            </a:r>
            <a:br/>
            <a:r>
              <a:t>cenct dar algorithan ()</a:t>
            </a:r>
            <a:br/>
            <a:r>
              <a:t>if (on &gt; 1)</a:t>
            </a:r>
            <a:br/>
            <a:r>
              <a:t>return coin</a:t>
            </a:r>
            <a:br/>
            <a:r>
              <a:t>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118" y="3147822"/>
            <a:ext cx="694926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Concept.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7923" y="2942082"/>
            <a:ext cx="7412550" cy="610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>
                <a:solidFill>
                  <a:srgbClr val="000000"/>
                </a:solidFill>
              </a:defRPr>
            </a:pPr>
            <a:r>
              <a:t>《從教練到架構師:2025年的覺醒與2026年的藍圖》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7923" y="3963924"/>
            <a:ext cx="7412550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0000"/>
                </a:solidFill>
              </a:defRPr>
            </a:pPr>
            <a:r>
              <a:t>一份基於年度日誌數據的深度洞察與戰略規劃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118" y="4457700"/>
            <a:ext cx="1389853" cy="322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[type = = ...]</a:t>
            </a:r>
            <a:br/>
            <a:r>
              <a:t>variable = name)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118" y="4882896"/>
            <a:ext cx="1816562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vantianene() {</a:t>
            </a:r>
            <a:br/>
            <a:r>
              <a:t>If (razaend) {</a:t>
            </a:r>
            <a:br/>
            <a:r>
              <a:t>variable neve) {</a:t>
            </a:r>
            <a:br/>
            <a:r>
              <a:t>variable (smnnate(name);</a:t>
            </a:r>
            <a:br/>
            <a:r>
              <a:t>} else {</a:t>
            </a:r>
            <a:br/>
            <a:r>
              <a:t>variable env(++);</a:t>
            </a:r>
            <a:br/>
            <a: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7752" y="685800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TREO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0486" y="685800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7605" y="685800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4723" y="685800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1841" y="685800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7752" y="1056132"/>
            <a:ext cx="68273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被規劃區域場所</a:t>
            </a:r>
            <a:br/>
            <a:r>
              <a:t>LEAN.3000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7605" y="1755648"/>
            <a:ext cx="13410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7752" y="2098548"/>
            <a:ext cx="13410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7605" y="2098548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2650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1841" y="2098548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2140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08960" y="1693926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3.500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08960" y="1879092"/>
            <a:ext cx="585201" cy="253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LSONING ROOM</a:t>
            </a:r>
            <a:br/>
            <a:r>
              <a:t>(OLOR 197</a:t>
            </a:r>
            <a:br/>
            <a:r>
              <a:t>0060447)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8960" y="2619756"/>
            <a:ext cx="25602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atorer</a:t>
            </a:r>
            <a:br/>
            <a:r>
              <a:t>(258)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8960" y="2804922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2600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7752" y="4053078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7000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4723" y="4053078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860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08960" y="4053078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1700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0486" y="4677156"/>
            <a:ext cx="438901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DOOR DOON</a:t>
            </a:r>
            <a:br/>
            <a:r>
              <a:t>(09714)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0486" y="4869179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94723" y="4869179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Sha</a:t>
            </a:r>
            <a:br/>
            <a:r>
              <a:t>00:30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4723" y="5061204"/>
            <a:ext cx="438901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POCAL</a:t>
            </a:r>
            <a:br/>
            <a:r>
              <a:t>(2007.101)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4723" y="5253228"/>
            <a:ext cx="512051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LOCHO</a:t>
            </a:r>
            <a:br/>
            <a:r>
              <a:t>1558909004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0486" y="5445252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ENOX</a:t>
            </a:r>
            <a:br/>
            <a:r>
              <a:t>DG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0486" y="5637276"/>
            <a:ext cx="365750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(CATDO)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94723" y="5637276"/>
            <a:ext cx="438901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(05-16 100)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7752" y="5966460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2900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87605" y="5966460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1900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1841" y="5966460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97752" y="6295644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3000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87605" y="6295644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94723" y="6295644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2150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01841" y="6295644"/>
            <a:ext cx="20725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2600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87605" y="6624828"/>
            <a:ext cx="28040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10100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01841" y="6624828"/>
            <a:ext cx="28040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19100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949" y="3552444"/>
            <a:ext cx="1840945" cy="130987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930" y="3552444"/>
            <a:ext cx="1840945" cy="130987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3911" y="3552444"/>
            <a:ext cx="1840945" cy="13098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584" y="672084"/>
            <a:ext cx="3133265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第一部分:奠基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1193292"/>
            <a:ext cx="3133265" cy="253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The Past: Laying the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93662" y="672084"/>
            <a:ext cx="3572166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2025年並非一連串孤立的事件,而是三個關鍵</a:t>
            </a:r>
            <a:br/>
            <a:r>
              <a:t>的試煉,它們共同鍛造了從「單點突破」到</a:t>
            </a:r>
            <a:br/>
            <a:r>
              <a:t>「系統建構」的轉變。每一項試煉都建立了一種</a:t>
            </a:r>
            <a:br/>
            <a:r>
              <a:t>不可或缺的核心能力。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1913382"/>
            <a:ext cx="3133265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第一部分:奠基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2434589"/>
            <a:ext cx="3133265" cy="253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The Past: Laying the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3949" y="4924044"/>
            <a:ext cx="1840945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000000"/>
                </a:solidFill>
              </a:defRPr>
            </a:pPr>
            <a:r>
              <a:t>壓力測試:在極端變動中</a:t>
            </a:r>
            <a:br/>
            <a:r>
              <a:t>錨定秩序的能力。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3930" y="4924044"/>
            <a:ext cx="1840945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000000"/>
                </a:solidFill>
              </a:defRPr>
            </a:pPr>
            <a:r>
              <a:t>身分躍遷:從工具的使用</a:t>
            </a:r>
            <a:br/>
            <a:r>
              <a:t>者轉變為創造者的覺醒。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3911" y="4924044"/>
            <a:ext cx="1840945" cy="55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000000"/>
                </a:solidFill>
              </a:defRPr>
            </a:pPr>
            <a:r>
              <a:t>商業覺醒:理解自身價值</a:t>
            </a:r>
            <a:br/>
            <a:r>
              <a:t>從單次服務轉向系統性價值</a:t>
            </a:r>
            <a:br/>
            <a:r>
              <a:t>的躍升。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343" y="0"/>
            <a:ext cx="4462160" cy="6172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6843" y="569214"/>
            <a:ext cx="8558570" cy="486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>
                <a:solidFill>
                  <a:srgbClr val="000000"/>
                </a:solidFill>
              </a:defRPr>
            </a:pPr>
            <a:r>
              <a:t>基石一:壓力測試- 在家庭變動中錨定秩序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43" y="1597914"/>
            <a:ext cx="1389853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Core Event: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6843" y="1858518"/>
            <a:ext cx="6522556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4月,太太的手術與復原期成為年度最大的壓力測試。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43" y="2379726"/>
            <a:ext cx="1889712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Key Behaviors: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43" y="2640330"/>
            <a:ext cx="8168435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•焦慮轉化:在手術室外的漫長等待中,並未被焦慮吞噬,反</a:t>
            </a:r>
            <a:br/>
            <a:r>
              <a:t>而利用空檔推進了簡報與問卷平台的製作。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43" y="3284982"/>
            <a:ext cx="8168435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•資訊系統化:將醫療資訊數位化管理(用 ChatGPT 整理醫囑、</a:t>
            </a:r>
            <a:br/>
            <a:r>
              <a:t>語音轉文字記錄病情),成為家庭的「定海神針」。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43" y="4341114"/>
            <a:ext cx="2121354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Capability Forged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843" y="4601718"/>
            <a:ext cx="8168435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這次經歷鍛造了極高的心理韌性,並驗證了核心行為模式:透過建</a:t>
            </a:r>
            <a:br/>
            <a:r>
              <a:t>立外部秩序(系統/紀錄),來消化內在的失控感(焦慮/壓力)。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91976" y="6384798"/>
            <a:ext cx="792460" cy="130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000000"/>
                </a:solidFill>
              </a:defRPr>
            </a:pPr>
            <a:r>
              <a:t>NotebookLM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-6858"/>
            <a:ext cx="608365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5885" y="603503"/>
            <a:ext cx="8851170" cy="1001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基石二:身分躍遷一</a:t>
            </a:r>
            <a:br/>
            <a:r>
              <a:t>從教學者到產品開發者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885" y="1831086"/>
            <a:ext cx="13288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Core Event: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885" y="2105406"/>
            <a:ext cx="5754480" cy="569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8月,獨立開發並上架 Chrome 擴充功能「Quick Text</a:t>
            </a:r>
            <a:br/>
            <a:r>
              <a:t>Copy」。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885" y="2846070"/>
            <a:ext cx="16824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Significance: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885" y="3120390"/>
            <a:ext cx="6242147" cy="569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 這標誌著身分從「記錄者」與「服務者」正式跨入「開</a:t>
            </a:r>
            <a:br/>
            <a:r>
              <a:t>發者」」行列。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885" y="3689604"/>
            <a:ext cx="6668857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•證明了自己不再只是教工具的人,而是能打造工具的人。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885" y="3977639"/>
            <a:ext cx="575448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 呼應了 Naval Ravikant 的哲學:「將自己產品化」。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885" y="4437126"/>
            <a:ext cx="26212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Extended Achievement: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885" y="4711446"/>
            <a:ext cx="6607898" cy="569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年底透過 Vibe Coding 成功打造「智流 Smart Flow」網站</a:t>
            </a:r>
            <a:br/>
            <a:r>
              <a:t>與「線上轉盤」工具,進一步鞏固了開發者的身分。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