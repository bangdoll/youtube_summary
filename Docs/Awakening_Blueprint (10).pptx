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8076" y="891540"/>
            <a:ext cx="1828754" cy="987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haom note</a:t>
            </a:r>
            <a:br/>
            <a:r>
              <a:t>Imathian/adscendra.</a:t>
            </a:r>
            <a:br/>
            <a:r>
              <a:t>tham laotion</a:t>
            </a:r>
            <a:br/>
            <a:r>
              <a:t>Harin</a:t>
            </a:r>
            <a:br/>
            <a:r>
              <a:t>wiwong bansabdors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45457" y="891540"/>
            <a:ext cx="7802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foruwite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1476" y="1165860"/>
            <a:ext cx="1731220" cy="1172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t>(rozsentioneiro an) {</a:t>
            </a:r>
            <a:br/>
            <a:r>
              <a:t>eatert {</a:t>
            </a:r>
            <a:br/>
            <a:r>
              <a:t>ver aata = [</a:t>
            </a:r>
            <a:br/>
            <a:r>
              <a:t>console.vxfredsspter];</a:t>
            </a:r>
            <a:br/>
            <a:r>
              <a:t>]. {</a:t>
            </a:r>
            <a:br/>
            <a:r>
              <a:t>vareed = {</a:t>
            </a:r>
            <a:br/>
            <a:r>
              <a:t>valuevione (sotsi;</a:t>
            </a:r>
            <a:br/>
            <a:r>
              <a:t>cossole.solsed (Shemer);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76" y="1851660"/>
            <a:ext cx="48766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tiome</a:t>
            </a:r>
            <a:br/>
            <a:r>
              <a:t>Veids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3271" y="1508760"/>
            <a:ext cx="487667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Concep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76" y="2338578"/>
            <a:ext cx="1706837" cy="747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object ({</a:t>
            </a:r>
            <a:br/>
            <a:r>
              <a:t>const return =</a:t>
            </a:r>
            <a:br/>
            <a:r>
              <a:t>cenct dar algorithan ()</a:t>
            </a:r>
            <a:br/>
            <a:r>
              <a:t>if (on &gt; 1)</a:t>
            </a:r>
            <a:br/>
            <a:r>
              <a:t>return coin</a:t>
            </a:r>
            <a:br/>
            <a:r>
              <a:t>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76" y="3140964"/>
            <a:ext cx="609584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Concept.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2441" y="3140964"/>
            <a:ext cx="7254058" cy="500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000000"/>
                </a:solidFill>
              </a:defRPr>
            </a:pPr>
            <a:r>
              <a:t>《從教練到架構師:2025年的覺醒與2026年的藍圖》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2441" y="4039361"/>
            <a:ext cx="7254058" cy="294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t>一份基於年度日誌數據的深度洞察與戰略規劃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76" y="4608576"/>
            <a:ext cx="1426428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[type = = ...]</a:t>
            </a:r>
            <a:br/>
            <a:r>
              <a:t>variable = name)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76" y="4965192"/>
            <a:ext cx="1706837" cy="953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vantianene() {</a:t>
            </a:r>
            <a:br/>
            <a:r>
              <a:t>If (razaend) {</a:t>
            </a:r>
            <a:br/>
            <a:r>
              <a:t>variable neve) {</a:t>
            </a:r>
            <a:br/>
            <a:r>
              <a:t>variable (smnnate(name);</a:t>
            </a:r>
            <a:br/>
            <a:r>
              <a:t>} else {</a:t>
            </a:r>
            <a:br/>
            <a:r>
              <a:t>variable env(++);</a:t>
            </a:r>
            <a:br/>
            <a: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1732" y="685800"/>
            <a:ext cx="195067" cy="11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TREO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1317" y="685800"/>
            <a:ext cx="146300" cy="11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2819" y="685800"/>
            <a:ext cx="146300" cy="11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320" y="685800"/>
            <a:ext cx="146300" cy="11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1510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9656" y="685800"/>
            <a:ext cx="146300" cy="11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1732" y="1748790"/>
            <a:ext cx="146300" cy="11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2140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3490" y="1748790"/>
            <a:ext cx="146300" cy="11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3.500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3490" y="2640330"/>
            <a:ext cx="146300" cy="11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2600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1732" y="4080509"/>
            <a:ext cx="146300" cy="11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7000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1732" y="4903470"/>
            <a:ext cx="146300" cy="11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3490" y="4903470"/>
            <a:ext cx="146300" cy="11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1700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1732" y="5795009"/>
            <a:ext cx="146300" cy="11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2900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3490" y="5795009"/>
            <a:ext cx="146300" cy="11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1732" y="6206490"/>
            <a:ext cx="146300" cy="11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3000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2819" y="6206490"/>
            <a:ext cx="146300" cy="11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24320" y="6206490"/>
            <a:ext cx="146300" cy="11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2150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9656" y="6206490"/>
            <a:ext cx="146300" cy="11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2000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2819" y="6549390"/>
            <a:ext cx="268217" cy="11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10100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9656" y="6549390"/>
            <a:ext cx="268217" cy="11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</a:defRPr>
            </a:pPr>
            <a:r>
              <a:t>19100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672084"/>
            <a:ext cx="3328332" cy="569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>
                <a:solidFill>
                  <a:srgbClr val="000000"/>
                </a:solidFill>
              </a:defRPr>
            </a:pPr>
            <a:r>
              <a:t>第一部分:奠基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241298"/>
            <a:ext cx="3096690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The Past: Laying the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1954529"/>
            <a:ext cx="3328332" cy="569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>
                <a:solidFill>
                  <a:srgbClr val="000000"/>
                </a:solidFill>
              </a:defRPr>
            </a:pPr>
            <a:r>
              <a:t>第一部分:奠基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523744"/>
            <a:ext cx="3096690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The Past: Laying the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9278" y="672084"/>
            <a:ext cx="6400639" cy="2119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</a:defRPr>
            </a:pPr>
            <a:r>
              <a:t>2025年並非一連串孤立的事件,而是三個關鍵</a:t>
            </a:r>
            <a:br/>
            <a:r>
              <a:t>的試煉,它們共同鍛造了從「單點突破」到</a:t>
            </a:r>
            <a:br/>
            <a:r>
              <a:t>「系統建構」的轉變。每一項試煉都建立了一種</a:t>
            </a:r>
            <a:br/>
            <a:r>
              <a:t>不可或缺的核心能力。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5182" y="5815583"/>
            <a:ext cx="2365188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壓力測試:在極端變動中</a:t>
            </a:r>
            <a:br/>
            <a:r>
              <a:t>錨定秩序的能力。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5815583"/>
            <a:ext cx="2535872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身分躍遷:從工具的使用</a:t>
            </a:r>
            <a:br/>
            <a:r>
              <a:t>者轉變為創造者的覺醒。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569214"/>
            <a:ext cx="8997471" cy="541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基石一:壓力測試- 在家庭變動中錨定秩序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625345"/>
            <a:ext cx="1341086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Core Event: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1885950"/>
            <a:ext cx="5925163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4月,太太的手術與復原期成為年度最大的壓力測試。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400300"/>
            <a:ext cx="1828754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Key Behaviors: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2660904"/>
            <a:ext cx="716871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•焦慮轉化:在手術室外的漫長等待中,並未被焦慮吞噬,反</a:t>
            </a:r>
            <a:br/>
            <a:r>
              <a:t>而利用空檔推進了簡報與問卷平台的製作。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264408"/>
            <a:ext cx="726625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•資訊系統化:將醫療資訊數位化管理(用 ChatGPT 整理醫囑、</a:t>
            </a:r>
            <a:br/>
            <a:r>
              <a:t>語音轉文字記錄病情),成為家庭的「定海神針」。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20540"/>
            <a:ext cx="2133546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Capability Forged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581144"/>
            <a:ext cx="726625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這次經歷鍛造了極高的心理韌性,並驗證了核心行為模式:透過建</a:t>
            </a:r>
            <a:br/>
            <a:r>
              <a:t>立外部秩序(系統/紀錄),來消化內在的失控感(焦慮/壓力)。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885" y="1639062"/>
            <a:ext cx="1316703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Core Event: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885" y="1872234"/>
            <a:ext cx="579105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8月,獨立開發並上架 Chrome 擴充功能「Quick Text</a:t>
            </a:r>
            <a:br/>
            <a:r>
              <a:t>Copy」。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885" y="2523744"/>
            <a:ext cx="1487386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Significance: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885" y="2756916"/>
            <a:ext cx="5852013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 這標誌著身分從「記錄者」與「服務者」正式跨入「開</a:t>
            </a:r>
            <a:br/>
            <a:r>
              <a:t>發者」」行列。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885" y="3332988"/>
            <a:ext cx="6425023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•證明了自己不再只是教工具的人,而是能打造工具的人。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885" y="3675888"/>
            <a:ext cx="5888588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 呼應了 Naval Ravikant 的哲學:「將自己產品化」。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885" y="4114800"/>
            <a:ext cx="2499297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Extended Achievement: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885" y="4347972"/>
            <a:ext cx="637625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年底透過 Vibe Coding 成功打造「智流 Smart Flow」網站</a:t>
            </a:r>
            <a:br/>
            <a:r>
              <a:t>與「線上轉盤」工具,進一步鞏固了開發者的身分。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