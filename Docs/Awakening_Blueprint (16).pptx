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這張投影片是關於從教練轉型為架構師的主題，標題為「從教練到架構師：2025 年的覺醒與 2026 年的藍圖」。副標題說明這是一份基於年度日誌數據的深度洞察與戰略規劃。背景採用了結合建築藍圖、手繪草圖和程式碼片段的設計，象徵著從實踐到系統化架構的演進過程。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這張投影片介紹了第一部分「奠基」。內容強調 2025 年並非孤立事件，而是從「單點突破」轉向「系統建構」的關鍵轉型期。透過三個核心試煉來建立能力：1. 壓力測試（錨定秩序）、2. 身分躍遷（成為創造者）、3. 商業覺醒（系統性價值）。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這張投影片探討了第一個基石：壓力測試。重點在於如何在家庭變動中建立秩序。核心事件是四月份太太的手術與復原期。關鍵行為包括將焦慮轉化為生產力（製作簡報與問卷），以及利用數位工具（如 ChatGPT）系統化管理醫療資訊。這次經驗鍛造了心理韌性，證明了透過建立外部秩序可以有效緩解內在的失控感。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這張投影片探討了從教學者轉型為產品開發者的過程。核心事件是 8 月份獨立開發並上架了 Chrome 擴充功能「Quick Text Copy」。這具有重大意義，因為它標誌著身分從記錄者轉向開發者，證明了自己具備打造工具的能力，並實踐了 Naval Ravikant「將自己產品化」的哲學。此外，年底還透過 Vibe Coding 打造了「智流 Smart Flow」網站等工具，進一步鞏固了開發者身分。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這張投影片探討了第三個基石：商業覺醒。重點在於從提供「單點服務」轉向創造「系統價值」。觸發點是意識到品牌缺失的痛點。核心洞察包括：1. 教學哲學從解決當下問題（救火）進化到建立預防系統（防火）；2. 價值主張從軟體操作轉向數位治理與基礎設施建設；3. 確立「基礎設施先於應用」的論述，從教人釣魚轉向教人設計養魚場。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這張投影片探討了核心洞察：你的隱藏超能力是作為「混亂的過濾器」與「秩序的架構師」。重點在於你販賣的不是技術，而是掌控感與安心感，將學生的數位焦慮轉化為可控的秩序。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強調產品的核心價值在於「消除恐懼」與「交付秩序」。獲利模式已從單純的知識落差轉向信任託付。針對三種不同客群（學生、家庭、企業主），分別提供安心感、穩定的系統關係以及安全感與系統穩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探討了「過度可得性」如何損害專業價值。當專業人士（如架構師）過度介入瑣碎的事務（如解決滑鼠問題）時，會降低其在客戶心中的權威感。這種行為往往源於透過掌控權來緩解焦慮的心理機制，最終會導致身心能量的枯竭。投影片強調，個人的身心能量才是維持整個系統運作的核心「伺服器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本頁面探討「2026 使命」，重點在於將個人職稱「蔡教練」轉型為一個品牌系統。核心課題是實現產品的自動運轉，減少對個人體力的依賴。強調架構師的角色，應信任系統設計並學會放手。最後列出三個關鍵步驟：產品化、品牌化與系統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這張投影片介紹了第一個核心支柱：產品化。其核心在於「資產化」原則，即在執行任何勞務時，都應思考是否能轉化為可重複使用的資產。2026 年的具體行動包括：1. 推出標準化產品包，將服務包裝成解決方案而非單純販售工時；2. 教材資產化，將教學筆記轉化為可持續產生價值的知識庫或線上課程。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這張投影片探討品牌化的第二支柱，即建立「單一可信來源」的專業形象。其核心在於「系統大於工具」的原則，提醒我們應專注於建立解決問題的系統，而非單純教授工具。2026年的具體行動包括透過「智流 Smart Flow」強化網站作為觀點載體的功能，並定位自己為「數位治理」專家，傳達「建立不被工具綁架的系統」的核心價值。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探討系統化策略中的「護城河」原則，旨在保護個人的核心能量。內容涵蓋了檢核標準（是否侵蝕核心能量與家庭時間）以及兩項具體行動：一是建立「拒絕與授權」機制以處理低價值工作，二是強制安排「留白」時間（DMN）以確保能量恢復與異地備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這張投影片介紹了 2026 年的三大行動準則與決策原則。第一是「資產化原則」，強調創造可重複使用的資產，避免一次性勞務。第二是「系統大於工具原則」，著重於建立解決方案的系統而非僅僅學習工具功能。第三是「護城河原則」，旨在保護核心能量與專注力，將其視為最重要的生產資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這張投影片分享了給 2026 年的一句話，核心訊息是鼓勵人們不要只是盲目解決所有問題，而是要學會篩選，將精力專注於那些真正「值得解決」的問題。背景使用了建築藍圖，象徵著規劃與建構未來。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89712" y="2914650"/>
            <a:ext cx="841226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212121"/>
                </a:solidFill>
              </a:defRPr>
            </a:pPr>
            <a:r>
              <a:t>《從教練到架構師：2025 年的覺醒與 2026 年的藍圖》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716" y="3600450"/>
            <a:ext cx="5486262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212121"/>
                </a:solidFill>
              </a:defRPr>
            </a:pPr>
            <a:r>
              <a:t>一份基於年度日誌數據的深度洞察與戰略規劃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16359" y="6652259"/>
            <a:ext cx="85341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212121"/>
                </a:solidFill>
              </a:defRPr>
            </a:pPr>
            <a:r>
              <a:t>NotebookLM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211" y="3689604"/>
            <a:ext cx="1706837" cy="152247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633" y="3689604"/>
            <a:ext cx="1706837" cy="15224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055" y="3689604"/>
            <a:ext cx="1706837" cy="152247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6359" y="6652259"/>
            <a:ext cx="853418" cy="137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51" y="740664"/>
            <a:ext cx="3389291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>
                <a:solidFill>
                  <a:srgbClr val="002B49"/>
                </a:solidFill>
              </a:defRPr>
            </a:pPr>
            <a:r>
              <a:t>第一部分：奠基</a:t>
            </a:r>
            <a:br/>
            <a:r>
              <a:t>The Past: Laying the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5170" y="788670"/>
            <a:ext cx="6400639" cy="1735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1A1A1A"/>
                </a:solidFill>
              </a:defRPr>
            </a:pPr>
            <a:r>
              <a:t>2025 年並非一連串孤立的事件，而是三個關鍵的試煉，它們共同鍛造了從「單點突破」到「系統建構」的轉變。每一項試煉都建立了一種不可或缺的核心能力。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51" y="2955798"/>
            <a:ext cx="3389291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>
                <a:solidFill>
                  <a:srgbClr val="002B49"/>
                </a:solidFill>
              </a:defRPr>
            </a:pPr>
            <a:r>
              <a:t>第一部分：奠基</a:t>
            </a:r>
            <a:br/>
            <a:r>
              <a:t>The Past: Laying the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1061" y="5520690"/>
            <a:ext cx="184094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1A1A1A"/>
                </a:solidFill>
              </a:defRPr>
            </a:pPr>
            <a:r>
              <a:t>壓力測試：在極端變動中錨定秩序的能力。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8716" y="5520690"/>
            <a:ext cx="19140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1A1A1A"/>
                </a:solidFill>
              </a:defRPr>
            </a:pPr>
            <a:r>
              <a:t>身分躍遷：從工具的使用者轉變為創造者的覺醒。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7330" y="5520690"/>
            <a:ext cx="1938479" cy="70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1A1A1A"/>
                </a:solidFill>
              </a:defRPr>
            </a:pPr>
            <a:r>
              <a:t>商業覺醒：理解自身價值從單次服務轉向系統性價值的躍升。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0"/>
            <a:ext cx="4876678" cy="6515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34" y="4951476"/>
            <a:ext cx="6449406" cy="12481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6359" y="6617970"/>
            <a:ext cx="853418" cy="171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0543" y="720090"/>
            <a:ext cx="7741726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>
                <a:solidFill>
                  <a:srgbClr val="333333"/>
                </a:solidFill>
              </a:defRPr>
            </a:pPr>
            <a:r>
              <a:t>基石一：壓力測試 — 在家庭變動中錨定秩序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43" y="1783080"/>
            <a:ext cx="6034889" cy="61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333333"/>
                </a:solidFill>
              </a:defRPr>
            </a:pPr>
            <a:r>
              <a:t>Core Event:</a:t>
            </a:r>
            <a:br/>
            <a:r>
              <a:t>4月，太太的手術與復原期成為年度最大的壓力測試。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43" y="2777490"/>
            <a:ext cx="646159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</a:defRPr>
            </a:pPr>
            <a:r>
              <a:t>Key Behaviors:</a:t>
            </a:r>
            <a:br/>
            <a:r>
              <a:t>• 焦慮轉化：在手術室外的漫長等待中，並未被焦慮吞噬，反而利用空檔推進了簡報與問卷平台的製作。</a:t>
            </a:r>
            <a:br/>
            <a:r>
              <a:t>• 資訊系統化：將醫療資訊數位化管理（用 ChatGPT 整理醫囑、語音轉文字記錄病情），成為家庭的「定海神針」。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5074920"/>
            <a:ext cx="6034889" cy="99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3366"/>
                </a:solidFill>
              </a:defRPr>
            </a:pPr>
            <a:r>
              <a:t>Capability Forged</a:t>
            </a:r>
            <a:br/>
            <a:r>
              <a:t>這次經歷鍛造了極高的心理韌性，並驗證了核心行為模式：透過建立外部秩序（系統／紀錄），來消化內在的失控感（焦慮/壓力）。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598" y="891540"/>
            <a:ext cx="4998595" cy="52120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401" y="6617970"/>
            <a:ext cx="853418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0543" y="651510"/>
            <a:ext cx="4815719" cy="99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>
                <a:solidFill>
                  <a:srgbClr val="003355"/>
                </a:solidFill>
              </a:defRPr>
            </a:pPr>
            <a:r>
              <a:t>基石二：身分躍遷 — 從教學者到產品開發者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2057400"/>
            <a:ext cx="176779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003355"/>
                </a:solidFill>
              </a:defRPr>
            </a:pPr>
            <a:r>
              <a:t>Core Event: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43" y="2366010"/>
            <a:ext cx="518147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1A1A1A"/>
                </a:solidFill>
              </a:defRPr>
            </a:pPr>
            <a:r>
              <a:t>8 月，獨立開發並上架 Chrome 擴充功能「Quick Text Copy」。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43" y="3223260"/>
            <a:ext cx="176779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003355"/>
                </a:solidFill>
              </a:defRPr>
            </a:pPr>
            <a:r>
              <a:t>Significance: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43" y="3600450"/>
            <a:ext cx="5669138" cy="1268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1A1A1A"/>
                </a:solidFill>
              </a:defRPr>
            </a:pPr>
            <a:r>
              <a:t>• 這標誌著身分從「記錄者」與「服務者」正式跨入「開發者」行列。</a:t>
            </a:r>
            <a:br/>
            <a:r>
              <a:t>• 證明了自己不再只是教工具的人，而是能打造工具的人。</a:t>
            </a:r>
            <a:br/>
            <a:r>
              <a:t>• 呼應了 Naval Ravikant 的哲學：「將自己產品化」。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43" y="5143500"/>
            <a:ext cx="3596550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003355"/>
                </a:solidFill>
              </a:defRPr>
            </a:pPr>
            <a:r>
              <a:t>Extended Achievement: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43" y="5486400"/>
            <a:ext cx="5425304" cy="61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1A1A1A"/>
                </a:solidFill>
              </a:defRPr>
            </a:pPr>
            <a:r>
              <a:t>年底透過 Vibe Coding 成功打造「智流 Smart Flow」網站與「線上轉盤」工具，進一步鞏固了開發者的身分。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05" y="3874770"/>
            <a:ext cx="1523961" cy="253746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968" y="4491990"/>
            <a:ext cx="2194505" cy="14401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183" y="3806190"/>
            <a:ext cx="3657508" cy="26403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0543" y="548640"/>
            <a:ext cx="7254058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>
                <a:solidFill>
                  <a:srgbClr val="002B49"/>
                </a:solidFill>
              </a:defRPr>
            </a:pPr>
            <a:r>
              <a:t>基石三：商業覺醒 — 從單點服務到系統價值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43" y="1268730"/>
            <a:ext cx="8351311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1A1A1A"/>
                </a:solidFill>
              </a:defRPr>
            </a:pPr>
            <a:r>
              <a:t>Trigger：12月，在朋友喜宴上被點出「擁有優質資產與服務，卻缺乏品牌」的痛點。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43" y="1680210"/>
            <a:ext cx="1523961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1A1A1A"/>
                </a:solidFill>
              </a:defRPr>
            </a:pPr>
            <a:r>
              <a:t>Core Insight：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1954529"/>
            <a:ext cx="1048485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A1A1A"/>
                </a:solidFill>
              </a:defRPr>
            </a:pPr>
            <a:r>
              <a:t>• 教學哲學深化：從「救火」（解決當下問題）進化到「防火」（建立預防系統）。意識到自己的價值不在於救火，而在於建立防火牆。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35" y="2571750"/>
            <a:ext cx="10484857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A1A1A"/>
                </a:solidFill>
              </a:defRPr>
            </a:pPr>
            <a:r>
              <a:t>• 價值主張轉變：從單純教軟體操作，轉向「數位治理」與「基礎設施建設」（如協助學生統一帳號、建立備份三部曲）。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" y="3188970"/>
            <a:ext cx="1048485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A1A1A"/>
                </a:solidFill>
              </a:defRPr>
            </a:pPr>
            <a:r>
              <a:t>• 確立核心論述：確立了「基礎設施先於應用」的核心論述。不再只是教人釣魚，而是教人如何設計一座養魚場。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093" y="0"/>
            <a:ext cx="4267093" cy="6515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7667" y="397764"/>
            <a:ext cx="316984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solidFill>
                  <a:srgbClr val="003049"/>
                </a:solidFill>
              </a:defRPr>
            </a:pPr>
            <a:r>
              <a:t>第二部分：洞察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994409"/>
            <a:ext cx="347463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777777"/>
                </a:solidFill>
              </a:defRPr>
            </a:pPr>
            <a:r>
              <a:t>The Present: The Core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2400300"/>
            <a:ext cx="108506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>
                <a:solidFill>
                  <a:srgbClr val="003049"/>
                </a:solidFill>
              </a:defRPr>
            </a:pPr>
            <a:r>
              <a:t>你的隱藏超能力：</a:t>
            </a:r>
            <a:br/>
            <a:r>
              <a:t>你是「混亂的過濾器」與「秩序的架構師」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01" y="4080509"/>
            <a:ext cx="4510927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</a:defRPr>
            </a:pPr>
            <a:r>
              <a:t>• 你以為自己在教 AI 或修電腦，但你真正正在販賣的不是技術，而是「掌控感」與「安心感」。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01" y="4800600"/>
            <a:ext cx="4510927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</a:defRPr>
            </a:pPr>
            <a:r>
              <a:t>• 當學生面對散亂的照片、忘記的密碼、爆滿的雲端空間時，你透過 SOP、備份三部曲、帳號治理，把掌控感還給了他們。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01" y="5795009"/>
            <a:ext cx="4510927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</a:defRPr>
            </a:pPr>
            <a:r>
              <a:t>• 你將「數位焦慮」轉化為「可控的秩序」。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809" y="1165860"/>
            <a:ext cx="91437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777777"/>
                </a:solidFill>
              </a:defRPr>
            </a:pPr>
            <a:r>
              <a:t>Chaos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515" y="5829300"/>
            <a:ext cx="8534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3049"/>
                </a:solidFill>
              </a:defRPr>
            </a:pPr>
            <a:r>
              <a:t>Order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43" y="651510"/>
            <a:ext cx="853418" cy="82295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878" y="720090"/>
            <a:ext cx="853418" cy="7543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176" y="3086100"/>
            <a:ext cx="24383" cy="3154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135" y="3086100"/>
            <a:ext cx="24383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21214" y="685800"/>
            <a:ext cx="81684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>
                <a:solidFill>
                  <a:srgbClr val="000000"/>
                </a:solidFill>
              </a:defRPr>
            </a:pPr>
            <a:r>
              <a:t>你真正的產品：消除恐懼，交付秩序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1214" y="1851660"/>
            <a:ext cx="6949266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0000"/>
                </a:solidFill>
              </a:defRPr>
            </a:pPr>
            <a:r>
              <a:t>你的獲利模式正在從「知識落差」轉向「信任託付」。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120390"/>
            <a:ext cx="975335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00334D"/>
                </a:solidFill>
              </a:defRPr>
            </a:pPr>
            <a:r>
              <a:t>對學生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18" y="3771900"/>
            <a:ext cx="3047923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他們的需求不是最新的 iPhone 規格，而是有人牽著手，安全地從舊時代跨越到數位新大陸。你賣的是「安心」。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8179" y="3120390"/>
            <a:ext cx="975335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00334D"/>
                </a:solidFill>
              </a:defRPr>
            </a:pPr>
            <a:r>
              <a:t>對家庭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0927" y="3771900"/>
            <a:ext cx="316984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你用系統思維表達關心。用 ChatGPT 建立專屬故事線、用點數制度建立金錢觀、用數位工具記錄醫囑。你用理性的工具，守護感性的關係，讓愛成為一種「穩定的系統」。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5688" y="3120390"/>
            <a:ext cx="1341086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00334D"/>
                </a:solidFill>
              </a:defRPr>
            </a:pPr>
            <a:r>
              <a:t>對企業主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352" y="3771900"/>
            <a:ext cx="3047923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他們敢把最私密的帳號密碼、公司檔案結構交給你。你的核心價值已不是「新知」，而是「安全感」與「系統穩定性」。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058" y="1200150"/>
            <a:ext cx="4267093" cy="47320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0543" y="651510"/>
            <a:ext cx="5425304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>
                <a:solidFill>
                  <a:srgbClr val="00334E"/>
                </a:solidFill>
              </a:defRPr>
            </a:pPr>
            <a:r>
              <a:t>警惕：超能力背後的陷阱 — 「過度可得性」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1885950"/>
            <a:ext cx="6400639" cy="435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>
                <a:solidFill>
                  <a:srgbClr val="1A1A1A"/>
                </a:solidFill>
              </a:defRPr>
            </a:pPr>
            <a:r>
              <a:t>Problem Definition: 你是一個極度熱心且負責的「救火隊長」，但「高級打雜」正在稀釋你的顧問價值。</a:t>
            </a:r>
            <a:br/>
            <a:br/>
            <a:r>
              <a:t>Core Conflict: 當你隨時都能被找到去解決一個滑鼠連線問題時，就很難讓客戶相信你是一個能規劃企業願景的架構師。</a:t>
            </a:r>
            <a:br/>
            <a:br/>
            <a:r>
              <a:t>Root Cause: 你的「焦慮轉化機制」讓你習慣透過「接管控制權」來創造安全感，這讓你難以拒絕求助。</a:t>
            </a:r>
            <a:br/>
            <a:br/>
            <a:r>
              <a:t>Personal Impact: 多次透露出身心透支的警訊（在車上累到睡著）。 你的身心能量才是這一切系統的「伺服器」。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795" y="1028700"/>
            <a:ext cx="8656103" cy="339471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795" y="2400300"/>
            <a:ext cx="853418" cy="2023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201" y="617219"/>
            <a:ext cx="3133265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>
                <a:solidFill>
                  <a:srgbClr val="1A365D"/>
                </a:solidFill>
              </a:defRPr>
            </a:pPr>
            <a:r>
              <a:t>第三部分：藍圖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01" y="1131570"/>
            <a:ext cx="3133265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718096"/>
                </a:solidFill>
              </a:defRPr>
            </a:pPr>
            <a:r>
              <a:t>The Future: The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3674" y="2606040"/>
            <a:ext cx="536434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000000"/>
                </a:solidFill>
              </a:defRPr>
            </a:pPr>
            <a:r>
              <a:t>2026 使命：將「蔡教練」從一個職稱，升級為一個品牌系統。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06" y="4800600"/>
            <a:ext cx="62177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t>課題是如何讓產品自己運轉，而不再依賴你的肉身去推動。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0671" y="5143500"/>
            <a:ext cx="8229394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t>你已經是架構師了，請相信你設計的系統，然後試著放手，讓系統為你工作。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60" y="5829300"/>
            <a:ext cx="10545816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000000"/>
                </a:solidFill>
              </a:defRPr>
            </a:pPr>
            <a:r>
              <a:t>1. 產品化 (Productize)    2. 品牌化 (Branding)    3. 系統化 (Systemize)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352" y="1741932"/>
            <a:ext cx="3291757" cy="44988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0543" y="562356"/>
            <a:ext cx="9753356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>
                <a:solidFill>
                  <a:srgbClr val="2D2D2D"/>
                </a:solidFill>
              </a:defRPr>
            </a:pPr>
            <a:r>
              <a:t>支柱一：產品化 — 拒絕一次性勞務，建立可複用資產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51" y="1755648"/>
            <a:ext cx="7107758" cy="1248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2D2D2D"/>
                </a:solidFill>
              </a:defRPr>
            </a:pPr>
            <a:r>
              <a:t>「資產化」原則 (Asset First Principle)</a:t>
            </a:r>
            <a:br/>
            <a:r>
              <a:t>• 檢核點：做這件事能否留下「可重複使用」的資產？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3332988"/>
            <a:ext cx="2036013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2D2D2D"/>
                </a:solidFill>
              </a:defRPr>
            </a:pPr>
            <a:r>
              <a:t>2026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43" y="3799332"/>
            <a:ext cx="6949266" cy="1172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2D2D2D"/>
                </a:solidFill>
              </a:defRPr>
            </a:pPr>
            <a:r>
              <a:t>• 推出標準化產品包：正式包裝「數位資產整理包」（含備份三部曲、帳號治理、遺產數位化）與「企業 AI 導入起手式」。不再賣小時，而是賣「解決方案」。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43" y="5129784"/>
            <a:ext cx="6949266" cy="1145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2D2D2D"/>
                </a:solidFill>
              </a:defRPr>
            </a:pPr>
            <a:r>
              <a:t>• 教材資產化：將 Heptabase 與 Notion 的教學筆記，轉化為付費訂閱的知識庫或線上微課程，讓教學在你睡覺時也能發生。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435" y="1988819"/>
            <a:ext cx="3474633" cy="4286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359" y="6652259"/>
            <a:ext cx="914377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0543" y="514350"/>
            <a:ext cx="975335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>
                <a:solidFill>
                  <a:srgbClr val="333333"/>
                </a:solidFill>
              </a:defRPr>
            </a:pPr>
            <a:r>
              <a:t>支柱二：品牌化 — 建立「單一可信來源」的專業形象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51" y="1748790"/>
            <a:ext cx="7875835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>
                <a:solidFill>
                  <a:srgbClr val="000000"/>
                </a:solidFill>
              </a:defRPr>
            </a:pPr>
            <a:r>
              <a:t>「系統大於工具」原則 (System over Tool Principle)</a:t>
            </a:r>
            <a:br/>
            <a:r>
              <a:t>• 檢核點：我是在教工具的功能，還是在建立解決問題的系統？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43" y="3326129"/>
            <a:ext cx="2011629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>
                <a:solidFill>
                  <a:srgbClr val="000000"/>
                </a:solidFill>
              </a:defRPr>
            </a:pPr>
            <a:r>
              <a:t>2026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43" y="3771900"/>
            <a:ext cx="7254058" cy="253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• 深化「智流 Smart Flow」：讓網站成為你「觀點」的載體，加入實測心得與教學案例，作為專業能力的證明。</a:t>
            </a:r>
            <a:br/>
            <a:r>
              <a:t>• 定義「數位治理」專家：將所有對外溝通聚焦在一個定位上，並使用以下價值主張：</a:t>
            </a:r>
            <a:br/>
            <a:r>
              <a:t>  ➢ 「我不只教你用工具，我幫你建立不被工具綁架的系統。」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432" y="1508760"/>
            <a:ext cx="4876678" cy="4320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480060"/>
            <a:ext cx="6095847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>
                <a:solidFill>
                  <a:srgbClr val="1A1A1A"/>
                </a:solidFill>
              </a:defRPr>
            </a:pPr>
            <a:r>
              <a:t>支柱三：系統化 —</a:t>
            </a:r>
            <a:br/>
            <a:r>
              <a:t>為自己建立護城河，保護核心能量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645919"/>
            <a:ext cx="5303387" cy="1405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3366"/>
                </a:solidFill>
              </a:defRPr>
            </a:pPr>
            <a:r>
              <a:t>「護城河」原則 (The Moat Principle)</a:t>
            </a:r>
            <a:br/>
            <a:r>
              <a:t>• 檢核點：這件事是否侵蝕了我的核心能量與家庭時間？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360420"/>
            <a:ext cx="2438339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1A1A1A"/>
                </a:solidFill>
              </a:defRPr>
            </a:pPr>
            <a:r>
              <a:t>2026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3771900"/>
            <a:ext cx="5303387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A1A1A"/>
                </a:solidFill>
              </a:defRPr>
            </a:pPr>
            <a:r>
              <a:t>• 建立「拒絕與授權」機制：對於低價值的技術支援（如修滑鼠），建立 FAQ 或外包，將時間保留給高價值的顧問諮詢。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4937759"/>
            <a:ext cx="5303387" cy="1337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A1A1A"/>
                </a:solidFill>
              </a:defRPr>
            </a:pPr>
            <a:r>
              <a:t>• 強制留白：每週固定安排「無輸入、無輸出」的 DMN（預設模式網絡）時間。把「休息」也納入你的 SOP，為自己的能量做「異地備援」。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687" y="1837944"/>
            <a:ext cx="1609303" cy="14401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812" y="1837944"/>
            <a:ext cx="1658070" cy="14401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6237" y="1837944"/>
            <a:ext cx="1414236" cy="14401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28473" y="740664"/>
            <a:ext cx="6534748" cy="507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002B45"/>
                </a:solidFill>
              </a:defRPr>
            </a:pPr>
            <a:r>
              <a:t>2026 行動準則：三大決策原則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7936" y="3717036"/>
            <a:ext cx="2340805" cy="589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0000"/>
                </a:solidFill>
              </a:defRPr>
            </a:pPr>
            <a:r>
              <a:t>原則一：資產化原則</a:t>
            </a:r>
            <a:br/>
            <a:r>
              <a:t>(Asset First)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02" y="4882896"/>
            <a:ext cx="2828473" cy="1275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• 提問：這能否留下「可重複使用」的資產？</a:t>
            </a:r>
            <a:br/>
            <a:r>
              <a:t>• 目標：拒絕無法累積的一次性勞務。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9694" y="3717036"/>
            <a:ext cx="3072307" cy="589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0000"/>
                </a:solidFill>
              </a:defRPr>
            </a:pPr>
            <a:r>
              <a:t>原則二：系統大於工具原則</a:t>
            </a:r>
            <a:br/>
            <a:r>
              <a:t>(System over Tool)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610" y="4882896"/>
            <a:ext cx="2828473" cy="1275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• 提問：我是在教功能，還是在建立解決方案的系統？</a:t>
            </a:r>
            <a:br/>
            <a:r>
              <a:t>• 目標：優先解決底層架構問題。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82953" y="3717036"/>
            <a:ext cx="2340805" cy="589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0000"/>
                </a:solidFill>
              </a:defRPr>
            </a:pPr>
            <a:r>
              <a:t>原則三：護城河原則</a:t>
            </a:r>
            <a:br/>
            <a:r>
              <a:t>(The Moat)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119" y="4882896"/>
            <a:ext cx="2828473" cy="1275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• 提問：這是否侵蝕了我的核心能量與家庭時間？</a:t>
            </a:r>
            <a:br/>
            <a:r>
              <a:t>• 目標：保護專注力，這是最重要的生產資產。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359" y="6638544"/>
            <a:ext cx="853418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79285" y="2023110"/>
            <a:ext cx="3620933" cy="363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4A4A4A"/>
                </a:solidFill>
              </a:defRPr>
            </a:pPr>
            <a:r>
              <a:t>給 2026 年的一句話：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0945" y="2756916"/>
            <a:ext cx="8497611" cy="1988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00334E"/>
                </a:solidFill>
              </a:defRPr>
            </a:pPr>
            <a:r>
              <a:t>「你已經證明了自己能解決任何問題；今年，請專注於解決那些『值得你解決』的問題。」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