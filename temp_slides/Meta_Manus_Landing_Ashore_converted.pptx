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本頁簡述 Meta 收購 Manus 的關鍵資訊，強調其戰略意義與價值。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可補充說明收購案的細節與影響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本頁說明Manus的策略並非套殼，而是聰明的整合與調度各家模型。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可補充說明Meta在AI領域的具體投入和產出，以及收購Manus的原因和預期效果。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此投影片展示了企業總部遷移的策略性轉變，強調了從中國武漢到新加坡的遷移，以及併購後營運總部的位置。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本簡報描述了7500萬美元融資後公司的一系列反應。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強調海外市場的巨大潛力，以及Manus在產品設計、支付和市場策略上的全球化部署。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本頁主要說明「上岸」的定義，以及新舊模式的差異。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此頁簡報分析了併購案背後潛在的法律與國籍風險，強調了對中國企業和創業者來說的重要性。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4618"/>
            <a:ext cx="5943600" cy="29487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Meta 收購 Manus：策略與價值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Meta 收購 AI 新創公司 Manus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收購金額：$2,000,000,000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從產品上線到被收購：&lt;9 個月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100% 中國創始團隊首次被美國科技巨頭收購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6767"/>
            <a:ext cx="5943600" cy="276446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Meta 第三次重大收購案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Meta 收購 AI 新創公司 Manus，金額超過 20 億美元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此交易為 Meta 成立以來第三大收購案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Manus 創辦人預計將出任 Meta 副總裁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Manus打造了第一個真正的通用AI代理 - HR助理場景演示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000">
                <a:solidFill>
                  <a:srgbClr val="000000"/>
                </a:solidFill>
              </a:defRPr>
            </a:pPr>
            <a:r>
              <a:t>Manus的技術核心是讓AI在各種商業場景中實現高度自主運作。</a:t>
            </a:r>
          </a:p>
          <a:p>
            <a:pPr>
              <a:spcAft>
                <a:spcPts val="2000"/>
              </a:spcAft>
              <a:defRPr sz="2000">
                <a:solidFill>
                  <a:srgbClr val="000000"/>
                </a:solidFill>
              </a:defRPr>
            </a:pPr>
            <a:r>
              <a:t>自主解壓縮一個包含15份履歷的Zip檔。</a:t>
            </a:r>
          </a:p>
          <a:p>
            <a:pPr>
              <a:spcAft>
                <a:spcPts val="2000"/>
              </a:spcAft>
              <a:defRPr sz="2000">
                <a:solidFill>
                  <a:srgbClr val="000000"/>
                </a:solidFill>
              </a:defRPr>
            </a:pPr>
            <a:r>
              <a:t>逐頁瀏覽,記錄學歷、經歷等關鍵資訊。</a:t>
            </a:r>
          </a:p>
          <a:p>
            <a:pPr>
              <a:spcAft>
                <a:spcPts val="2000"/>
              </a:spcAft>
              <a:defRPr sz="2000">
                <a:solidFill>
                  <a:srgbClr val="000000"/>
                </a:solidFill>
              </a:defRPr>
            </a:pPr>
            <a:r>
              <a:t>根據要求給出排名建議,提供候選人資料給HR參考。</a:t>
            </a:r>
          </a:p>
          <a:p>
            <a:pPr>
              <a:spcAft>
                <a:spcPts val="2000"/>
              </a:spcAft>
              <a:defRPr sz="2000">
                <a:solidFill>
                  <a:srgbClr val="000000"/>
                </a:solidFill>
              </a:defRPr>
            </a:pPr>
            <a:r>
              <a:t>在多數Al Agent仍顯笨拙時,Manus的表現遠超競爭對手,包括OpenAI的Operator。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029200"/>
            <a:ext cx="2286000" cy="4352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2097"/>
            <a:ext cx="5943600" cy="35938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Manus 的傳奇增長曲線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2025年3月：產品上線，Demo影片病毒式傳播。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&lt;8個月後：年度經常性收入(ARR)突破1億美元，創下全球新創公司最快紀錄。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&lt;9個月後：被Meta宣佈收購。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7512"/>
            <a:ext cx="5943600" cy="38829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Manus的策略：聰明的整合與調度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The Criticism: 市場初期質疑Manus並無自家大模型，僅是「套殼」調用其他模型。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The Reality: Manus的策略是不依賴單一模型，而是靈活調用各家大模型的能力來完成複雜任務。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平均調用 (Average Calls): 執行單一任務平均調用5.3個不同工具/模型。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首次成功率 (First-Time Success Rate): 高達78%。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0231"/>
            <a:ext cx="5943600" cy="21575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Meta AI困境：千億投入換來三流產品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Meta AI能力被視為「二流甚至三流」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2025年Meta在AI領域投入~$60-70B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投入與產出顯然不成正比。收購Manus是彌補其在Agent領域弱勢的捷徑。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70"/>
            <a:ext cx="5943600" cy="68386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Manus的市場推廣和獲客能力對Meta的吸引力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Manus's Marketing Prowess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The Viral Demo: 影片沒談技術,只呈現結果,過程無需人類插手。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The Global Face: 首席科學家季逸超,亞洲臉孔卻講著母語級的流利英文,消除了跨國市場的文化隔閡。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Zuckerberg's Strategic Shift: Meta已不再大力做開源「慈善」,在投資回報壓力下,正走向閉源和商業盈利。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收購Manus是實現商業化的「最好第一步」。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2189"/>
            <a:ext cx="5943600" cy="23336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企業總部遷移：從中國武漢到新加坡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舊總部：中國，武漢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新總部：新加坡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遷移時間：2025年6月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Manus執行長肖弘強調，併購後營運總部依舊設在新加坡。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資本推力：7500萬美元融資引發的連鎖反應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000">
                <a:solidFill>
                  <a:srgbClr val="000000"/>
                </a:solidFill>
              </a:defRPr>
            </a:pPr>
            <a:r>
              <a:t>2025年4月：Manus爆紅後獲得7500萬美元融資</a:t>
            </a:r>
          </a:p>
          <a:p>
            <a:pPr>
              <a:spcAft>
                <a:spcPts val="2000"/>
              </a:spcAft>
              <a:defRPr sz="2000">
                <a:solidFill>
                  <a:srgbClr val="000000"/>
                </a:solidFill>
              </a:defRPr>
            </a:pPr>
            <a:r>
              <a:t>觸發審查：根據美國新規，投資進入審查流程</a:t>
            </a:r>
          </a:p>
          <a:p>
            <a:pPr>
              <a:spcAft>
                <a:spcPts val="2000"/>
              </a:spcAft>
              <a:defRPr sz="2000">
                <a:solidFill>
                  <a:srgbClr val="000000"/>
                </a:solidFill>
              </a:defRPr>
            </a:pPr>
            <a:r>
              <a:t>迅速行動：Manus總部遷往新加坡，裁員至40多位技術核心成員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029200"/>
            <a:ext cx="2286000" cy="7071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0723"/>
            <a:ext cx="5943600" cy="10365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Manus的全球化戰略：海外市場優先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海外市場商業價值遠高於中國國內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海外用戶付費意願是中國用戶的5倍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海外市場規模至少是中國市場的35倍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全球化執行細節：Product Design, Payments, Extreme Measures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9163"/>
            <a:ext cx="5943600" cy="37596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457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「上岸」的定義與新舊模式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Defining「上岸」: 中國創業者走通全球化的路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象徵意義: 全中國人組成的團隊，產品和技術領先，也能在矽谷獲得認可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The Old vs. New Paradigm: 傳統路徑 vs Manus新路徑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Manus模式：中國AI新創的全球化生存指南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000">
                <a:solidFill>
                  <a:srgbClr val="000000"/>
                </a:solidFill>
              </a:defRPr>
            </a:pPr>
            <a:r>
              <a:t>全球視野 (Global Vision)</a:t>
            </a:r>
          </a:p>
          <a:p>
            <a:pPr>
              <a:spcAft>
                <a:spcPts val="2000"/>
              </a:spcAft>
              <a:defRPr sz="2000">
                <a:solidFill>
                  <a:srgbClr val="000000"/>
                </a:solidFill>
              </a:defRPr>
            </a:pPr>
            <a:r>
              <a:t>技術領先 (Technological Leadership)</a:t>
            </a:r>
          </a:p>
          <a:p>
            <a:pPr>
              <a:spcAft>
                <a:spcPts val="2000"/>
              </a:spcAft>
              <a:defRPr sz="2000">
                <a:solidFill>
                  <a:srgbClr val="000000"/>
                </a:solidFill>
              </a:defRPr>
            </a:pPr>
            <a:r>
              <a:t>商業實力 (Commercial Prowess)</a:t>
            </a:r>
          </a:p>
          <a:p>
            <a:pPr>
              <a:spcAft>
                <a:spcPts val="2000"/>
              </a:spcAft>
              <a:defRPr sz="2000">
                <a:solidFill>
                  <a:srgbClr val="000000"/>
                </a:solidFill>
              </a:defRPr>
            </a:pPr>
            <a:r>
              <a:t>戰略脫鉤 (Strategic Decoupling)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029200"/>
            <a:ext cx="2286000" cy="9498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併購案背後的隱藏變數與潛在風險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000">
                <a:solidFill>
                  <a:srgbClr val="000000"/>
                </a:solidFill>
              </a:defRPr>
            </a:pPr>
            <a:r>
              <a:t>中國學者指出併購案尚未真正落定</a:t>
            </a:r>
          </a:p>
          <a:p>
            <a:pPr>
              <a:spcAft>
                <a:spcPts val="2000"/>
              </a:spcAft>
              <a:defRPr sz="2000">
                <a:solidFill>
                  <a:srgbClr val="000000"/>
                </a:solidFill>
              </a:defRPr>
            </a:pPr>
            <a:r>
              <a:t>中國法律風險：交易可能存在技術向境外轉移的合規性問題</a:t>
            </a:r>
          </a:p>
          <a:p>
            <a:pPr>
              <a:spcAft>
                <a:spcPts val="2000"/>
              </a:spcAft>
              <a:defRPr sz="2000">
                <a:solidFill>
                  <a:srgbClr val="000000"/>
                </a:solidFill>
              </a:defRPr>
            </a:pPr>
            <a:r>
              <a:t>創始人國籍問題：核心團隊國籍可能影響法律管轄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029200"/>
            <a:ext cx="2286000" cy="227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